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validation study, not a tool demo. The headline is the margin over a strong baseline, measured on 32 contrasts from 9 published meta-analyses.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 Figure 1 is the schematic (pipeline stages, and the paper-vs-analysis distinction). Drop it 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evaluation is a contrast (a benchmark column), not a paper and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exceptions worth naming: executive function (74-&gt;39%) and problem solving (88-&gt;58%) lose most of their gold at retrieval and full-text screening, not at the abstract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of the precision achievable at full-text screening is a corpus difference rather than a screening failure. Don't quote 0.35 as the pipeline's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Parsing is close to solved; annotation is the harder and more interesting half, and it is what the next slides isolate.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deliberately strong: it retrieves a median 37% of the experts' own studies, so it is not a straw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decrease contrast is deliberately excluded: its expert map correlates r = 0.972 with reappraisal's, because the benchmark's Decrease file holds the reappraisal union. Showing both would present one expert map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dice, among columns whose maps are not empty at threshold, none actually lose - the weakest are ties. The five r2 losses are in Figure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an earlier comparison against all-analyses, which confounded choosing analyses with using fewer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paper selection is worthless. 31 of 32 baselines are targeted searches built per contrast, so the baseline selects papers by query where the pipeline selects them by LLM. The honest claim is that two ways of selecting papers come out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to say out loud: R2 rewards sharing the expert map's sparse non-negative form. Ranked (top-k dice) NeuroVLM leads NeuroQuery only 1.2x rather than 3.2x, and both still trail the search baseline. Not like-for-like either -- these answer a much cheaper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the leakage objection into a finding about the danger of LLM screening: mis-specification is roughly seven times the size of the tuning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experiments/e2e_retest/. Only the full-text screening rate is a clean per-stage measurement; parsing and annotation ran on already-drifted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missed because full texts in these projects are far longer than the corpus median it extrapolated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gate. The rest are finishable.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forward-looking case: it is the gate for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1600200"/>
            <a:ext cx="85953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Can an LLM pipeline reproduce</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a published meta-analysis?</a:t>
            </a:r>
            <a:endParaRPr lang="en-US" sz="4000" dirty="0"/>
          </a:p>
        </p:txBody>
      </p:sp>
      <p:sp>
        <p:nvSpPr>
          <p:cNvPr id="3" name="Text 1"/>
          <p:cNvSpPr txBox="1"/>
          <p:nvPr/>
        </p:nvSpPr>
        <p:spPr>
          <a:xfrm>
            <a:off x="566928" y="3657600"/>
            <a:ext cx="8595360" cy="365760"/>
          </a:xfrm>
          <a:prstGeom prst="rect">
            <a:avLst/>
          </a:prstGeom>
          <a:noFill/>
          <a:ln/>
        </p:spPr>
        <p:txBody>
          <a:bodyPr wrap="square" lIns="0" tIns="0" rIns="0" bIns="0" rtlCol="0" anchor="ctr"/>
          <a:lstStyle/>
          <a:p>
            <a:pPr indent="0" marL="0">
              <a:buNone/>
            </a:pPr>
            <a:r>
              <a:rPr lang="en-US" sz="1700" dirty="0">
                <a:solidFill>
                  <a:srgbClr val="E69F00"/>
                </a:solidFill>
                <a:latin typeface="Calibri" pitchFamily="34" charset="0"/>
                <a:ea typeface="Calibri" pitchFamily="34" charset="-122"/>
                <a:cs typeface="Calibri" pitchFamily="34" charset="-120"/>
              </a:rPr>
              <a:t>autonima — validation against 9 published neuroimaging meta-analyses</a:t>
            </a:r>
            <a:endParaRPr lang="en-US" sz="1700" dirty="0"/>
          </a:p>
        </p:txBody>
      </p:sp>
      <p:sp>
        <p:nvSpPr>
          <p:cNvPr id="4" name="Text 2"/>
          <p:cNvSpPr txBox="1"/>
          <p:nvPr/>
        </p:nvSpPr>
        <p:spPr>
          <a:xfrm>
            <a:off x="566928" y="4160520"/>
            <a:ext cx="8595360" cy="822960"/>
          </a:xfrm>
          <a:prstGeom prst="rect">
            <a:avLst/>
          </a:prstGeom>
          <a:noFill/>
          <a:ln/>
        </p:spPr>
        <p:txBody>
          <a:bodyPr wrap="square" lIns="0" tIns="0" rIns="0" bIns="0" rtlCol="0" anchor="ctr"/>
          <a:lstStyle/>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32 benchmark contrasts</a:t>
            </a:r>
            <a:endParaRPr lang="en-US" sz="1300" dirty="0"/>
          </a:p>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Alejandro de la Vega  ·  9 September 2026</a:t>
            </a:r>
            <a:endParaRPr lang="en-US" sz="1300" dirty="0"/>
          </a:p>
        </p:txBody>
      </p:sp>
      <p:sp>
        <p:nvSpPr>
          <p:cNvPr id="5" name="Shape 3"/>
          <p:cNvSpPr/>
          <p:nvPr/>
        </p:nvSpPr>
        <p:spPr>
          <a:xfrm>
            <a:off x="9601200" y="1737360"/>
            <a:ext cx="2011680" cy="2011680"/>
          </a:xfrm>
          <a:prstGeom prst="roundRect">
            <a:avLst>
              <a:gd name="adj" fmla="val 6364"/>
            </a:avLst>
          </a:prstGeom>
          <a:solidFill>
            <a:srgbClr val="1C7293"/>
          </a:solidFill>
          <a:ln w="12700">
            <a:solidFill>
              <a:srgbClr val="1C7293"/>
            </a:solidFill>
            <a:prstDash val="solid"/>
          </a:ln>
        </p:spPr>
      </p:sp>
      <p:sp>
        <p:nvSpPr>
          <p:cNvPr id="6" name="Text 4"/>
          <p:cNvSpPr txBox="1"/>
          <p:nvPr/>
        </p:nvSpPr>
        <p:spPr>
          <a:xfrm>
            <a:off x="9601200" y="2057400"/>
            <a:ext cx="2011680"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+0.099</a:t>
            </a:r>
            <a:endParaRPr lang="en-US" sz="3000" dirty="0"/>
          </a:p>
        </p:txBody>
      </p:sp>
      <p:sp>
        <p:nvSpPr>
          <p:cNvPr id="7" name="Text 5"/>
          <p:cNvSpPr txBox="1"/>
          <p:nvPr/>
        </p:nvSpPr>
        <p:spPr>
          <a:xfrm>
            <a:off x="9601200" y="2697480"/>
            <a:ext cx="2011680" cy="914400"/>
          </a:xfrm>
          <a:prstGeom prst="rect">
            <a:avLst/>
          </a:prstGeom>
          <a:noFill/>
          <a:ln/>
        </p:spPr>
        <p:txBody>
          <a:bodyPr wrap="square" lIns="0" tIns="0" rIns="0" bIns="0" rtlCol="0" anchor="ctr"/>
          <a:lstStyle/>
          <a:p>
            <a:pPr algn="ctr" indent="0" marL="0">
              <a:lnSpc>
                <a:spcPts val="1500"/>
              </a:lnSpc>
              <a:buNone/>
            </a:pPr>
            <a:r>
              <a:rPr lang="en-US" sz="1050" dirty="0">
                <a:solidFill>
                  <a:srgbClr val="D6E6F0"/>
                </a:solidFill>
                <a:latin typeface="Calibri" pitchFamily="34" charset="0"/>
                <a:ea typeface="Calibri" pitchFamily="34" charset="-122"/>
                <a:cs typeface="Calibri" pitchFamily="34" charset="-120"/>
              </a:rPr>
              <a:t>ΔR² over the best</a:t>
            </a:r>
            <a:endParaRPr lang="en-US" sz="1050" dirty="0"/>
          </a:p>
          <a:p>
            <a:pPr algn="ctr" indent="0" marL="0">
              <a:lnSpc>
                <a:spcPts val="1500"/>
              </a:lnSpc>
              <a:buNone/>
            </a:pPr>
            <a:r>
              <a:rPr lang="en-US" sz="1050" dirty="0">
                <a:solidFill>
                  <a:srgbClr val="D6E6F0"/>
                </a:solidFill>
                <a:latin typeface="Calibri" pitchFamily="34" charset="0"/>
                <a:ea typeface="Calibri" pitchFamily="34" charset="-122"/>
                <a:cs typeface="Calibri" pitchFamily="34" charset="-120"/>
              </a:rPr>
              <a:t>search-only baseline</a:t>
            </a:r>
            <a:endParaRPr lang="en-US" sz="1050" dirty="0"/>
          </a:p>
          <a:p>
            <a:pPr algn="ctr" indent="0" marL="0">
              <a:lnSpc>
                <a:spcPts val="1500"/>
              </a:lnSpc>
              <a:buNone/>
            </a:pPr>
            <a:r>
              <a:rPr lang="en-US" sz="1050" dirty="0">
                <a:solidFill>
                  <a:srgbClr val="D6E6F0"/>
                </a:solidFill>
                <a:latin typeface="Calibri" pitchFamily="34" charset="0"/>
                <a:ea typeface="Calibri" pitchFamily="34" charset="-122"/>
                <a:cs typeface="Calibri" pitchFamily="34" charset="-120"/>
              </a:rPr>
              <a:t>(28 of 32 contrasts)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result unit lives below the paper</a:t>
            </a:r>
            <a:endParaRPr lang="en-US" sz="3100" dirty="0"/>
          </a:p>
        </p:txBody>
      </p:sp>
      <p:sp>
        <p:nvSpPr>
          <p:cNvPr id="3" name="Text 1"/>
          <p:cNvSpPr txBox="1"/>
          <p:nvPr/>
        </p:nvSpPr>
        <p:spPr>
          <a:xfrm>
            <a:off x="566928" y="1645920"/>
            <a:ext cx="525780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A meta-analysis pools contrasts, not papers. One paper contributes several — often only one of which is relevant.</a:t>
            </a:r>
            <a:endParaRPr lang="en-US" sz="1500" dirty="0"/>
          </a:p>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Screening at the paper level is therefore not enough: you must also choose among the analyses inside each paper.</a:t>
            </a:r>
            <a:endParaRPr lang="en-US" sz="1500" dirty="0"/>
          </a:p>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That selection step is what no existing automated tool performs, and what this pipeline is built to test.</a:t>
            </a:r>
            <a:endParaRPr lang="en-US" sz="1500" dirty="0"/>
          </a:p>
          <a:p>
            <a:pPr marL="342900" indent="-342900">
              <a:spcAft>
                <a:spcPts val="800"/>
              </a:spcAft>
              <a:buSzPct val="100000"/>
              <a:buChar char="•"/>
            </a:pPr>
            <a:r>
              <a:rPr lang="en-US" sz="1500" dirty="0">
                <a:solidFill>
                  <a:srgbClr val="0F2A3F"/>
                </a:solidFill>
                <a:latin typeface="Calibri" pitchFamily="34" charset="0"/>
                <a:ea typeface="Calibri" pitchFamily="34" charset="-122"/>
                <a:cs typeface="Calibri" pitchFamily="34" charset="-120"/>
              </a:rPr>
              <a:t>Nothing in the field measures it, because the reference results are locked in PDFs.</a:t>
            </a:r>
            <a:endParaRPr lang="en-US" sz="1500" dirty="0"/>
          </a:p>
        </p:txBody>
      </p:sp>
      <p:sp>
        <p:nvSpPr>
          <p:cNvPr id="4" name="Text 2"/>
          <p:cNvSpPr txBox="1"/>
          <p:nvPr/>
        </p:nvSpPr>
        <p:spPr>
          <a:xfrm>
            <a:off x="566928" y="4617720"/>
            <a:ext cx="5257800" cy="457200"/>
          </a:xfrm>
          <a:prstGeom prst="rect">
            <a:avLst/>
          </a:prstGeom>
          <a:noFill/>
          <a:ln/>
        </p:spPr>
        <p:txBody>
          <a:bodyPr wrap="square" lIns="0" tIns="0" rIns="0" bIns="0" rtlCol="0" anchor="ctr"/>
          <a:lstStyle/>
          <a:p>
            <a:pPr indent="0" marL="0">
              <a:buNone/>
            </a:pPr>
            <a:r>
              <a:rPr lang="en-US" sz="1300" i="1" dirty="0">
                <a:solidFill>
                  <a:srgbClr val="1C7293"/>
                </a:solidFill>
                <a:latin typeface="Calibri" pitchFamily="34" charset="0"/>
                <a:ea typeface="Calibri" pitchFamily="34" charset="-122"/>
                <a:cs typeface="Calibri" pitchFamily="34" charset="-120"/>
              </a:rPr>
              <a:t>This is the claim the whole evaluation is organised around.</a:t>
            </a:r>
            <a:endParaRPr lang="en-US" sz="1300" dirty="0"/>
          </a:p>
        </p:txBody>
      </p:sp>
      <p:sp>
        <p:nvSpPr>
          <p:cNvPr id="5" name="Shape 3"/>
          <p:cNvSpPr/>
          <p:nvPr/>
        </p:nvSpPr>
        <p:spPr>
          <a:xfrm>
            <a:off x="6263640" y="1645920"/>
            <a:ext cx="5358384" cy="3840480"/>
          </a:xfrm>
          <a:prstGeom prst="roundRect">
            <a:avLst>
              <a:gd name="adj" fmla="val 1429"/>
            </a:avLst>
          </a:prstGeom>
          <a:solidFill>
            <a:srgbClr val="F7FAFC"/>
          </a:solidFill>
          <a:ln w="22225">
            <a:solidFill>
              <a:srgbClr val="1C7293"/>
            </a:solidFill>
            <a:prstDash val="dash"/>
          </a:ln>
        </p:spPr>
      </p:sp>
      <p:sp>
        <p:nvSpPr>
          <p:cNvPr id="6" name="Text 4"/>
          <p:cNvSpPr txBox="1"/>
          <p:nvPr/>
        </p:nvSpPr>
        <p:spPr>
          <a:xfrm>
            <a:off x="6263640" y="3017520"/>
            <a:ext cx="5358384" cy="411480"/>
          </a:xfrm>
          <a:prstGeom prst="rect">
            <a:avLst/>
          </a:prstGeom>
          <a:noFill/>
          <a:ln/>
        </p:spPr>
        <p:txBody>
          <a:bodyPr wrap="square" lIns="0" tIns="0" rIns="0" bIns="0" rtlCol="0" anchor="ctr"/>
          <a:lstStyle/>
          <a:p>
            <a:pPr algn="ctr" indent="0" marL="0">
              <a:buNone/>
            </a:pPr>
            <a:r>
              <a:rPr lang="en-US" sz="2000" b="1" spc="300" kern="0" dirty="0">
                <a:solidFill>
                  <a:srgbClr val="1C7293"/>
                </a:solidFill>
                <a:latin typeface="Cambria" pitchFamily="34" charset="0"/>
                <a:ea typeface="Cambria" pitchFamily="34" charset="-122"/>
                <a:cs typeface="Cambria" pitchFamily="34" charset="-120"/>
              </a:rPr>
              <a:t>FIGURE 1</a:t>
            </a:r>
            <a:endParaRPr lang="en-US" sz="2000" dirty="0"/>
          </a:p>
        </p:txBody>
      </p:sp>
      <p:sp>
        <p:nvSpPr>
          <p:cNvPr id="7" name="Text 5"/>
          <p:cNvSpPr txBox="1"/>
          <p:nvPr/>
        </p:nvSpPr>
        <p:spPr>
          <a:xfrm>
            <a:off x="6263640" y="3474720"/>
            <a:ext cx="5358384" cy="731520"/>
          </a:xfrm>
          <a:prstGeom prst="rect">
            <a:avLst/>
          </a:prstGeom>
          <a:noFill/>
          <a:ln/>
        </p:spPr>
        <p:txBody>
          <a:bodyPr wrap="square" lIns="0" tIns="0" rIns="0" bIns="0" rtlCol="0" anchor="ctr"/>
          <a:lstStyle/>
          <a:p>
            <a:pPr algn="ctr" indent="0" marL="0">
              <a:lnSpc>
                <a:spcPts val="2000"/>
              </a:lnSpc>
              <a:buNone/>
            </a:pPr>
            <a:r>
              <a:rPr lang="en-US" sz="1300" dirty="0">
                <a:solidFill>
                  <a:srgbClr val="5C7286"/>
                </a:solidFill>
                <a:latin typeface="Calibri" pitchFamily="34" charset="0"/>
                <a:ea typeface="Calibri" pitchFamily="34" charset="-122"/>
                <a:cs typeface="Calibri" pitchFamily="34" charset="-120"/>
              </a:rPr>
              <a:t>pipeline + analysis-unit schematic</a:t>
            </a:r>
            <a:endParaRPr lang="en-US" sz="1300" dirty="0"/>
          </a:p>
          <a:p>
            <a:pPr algn="ctr" indent="0" marL="0">
              <a:lnSpc>
                <a:spcPts val="2000"/>
              </a:lnSpc>
              <a:buNone/>
            </a:pPr>
            <a:r>
              <a:rPr lang="en-US" sz="1300" dirty="0">
                <a:solidFill>
                  <a:srgbClr val="5C7286"/>
                </a:solidFill>
                <a:latin typeface="Calibri" pitchFamily="34" charset="0"/>
                <a:ea typeface="Calibri" pitchFamily="34" charset="-122"/>
                <a:cs typeface="Calibri" pitchFamily="34" charset="-120"/>
              </a:rPr>
              <a:t>— to be added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and the benchmark</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Six LLM stages end to end, scored against the published result of each meta-analysis.</a:t>
            </a:r>
            <a:endParaRPr lang="en-US" sz="1500" dirty="0"/>
          </a:p>
        </p:txBody>
      </p:sp>
      <p:sp>
        <p:nvSpPr>
          <p:cNvPr id="4" name="Shape 2"/>
          <p:cNvSpPr/>
          <p:nvPr/>
        </p:nvSpPr>
        <p:spPr>
          <a:xfrm>
            <a:off x="566928" y="1737360"/>
            <a:ext cx="566928" cy="566928"/>
          </a:xfrm>
          <a:prstGeom prst="roundRect">
            <a:avLst>
              <a:gd name="adj" fmla="val 16129"/>
            </a:avLst>
          </a:prstGeom>
          <a:solidFill>
            <a:srgbClr val="1C7293"/>
          </a:solidFill>
          <a:ln w="12700">
            <a:solidFill>
              <a:srgbClr val="1C7293"/>
            </a:solidFill>
            <a:prstDash val="solid"/>
          </a:ln>
        </p:spPr>
      </p:sp>
      <p:sp>
        <p:nvSpPr>
          <p:cNvPr id="5" name="Text 3"/>
          <p:cNvSpPr txBox="1"/>
          <p:nvPr/>
        </p:nvSpPr>
        <p:spPr>
          <a:xfrm>
            <a:off x="566928"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Search</a:t>
            </a:r>
            <a:endParaRPr lang="en-US" sz="1450" dirty="0"/>
          </a:p>
        </p:txBody>
      </p:sp>
      <p:sp>
        <p:nvSpPr>
          <p:cNvPr id="7" name="Text 5"/>
          <p:cNvSpPr txBox="1"/>
          <p:nvPr/>
        </p:nvSpPr>
        <p:spPr>
          <a:xfrm>
            <a:off x="1280160"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PubMed query</a:t>
            </a:r>
            <a:endParaRPr lang="en-US" sz="1150" dirty="0"/>
          </a:p>
        </p:txBody>
      </p:sp>
      <p:sp>
        <p:nvSpPr>
          <p:cNvPr id="8" name="Shape 6"/>
          <p:cNvSpPr/>
          <p:nvPr/>
        </p:nvSpPr>
        <p:spPr>
          <a:xfrm>
            <a:off x="4251960" y="1737360"/>
            <a:ext cx="566928" cy="566928"/>
          </a:xfrm>
          <a:prstGeom prst="roundRect">
            <a:avLst>
              <a:gd name="adj" fmla="val 16129"/>
            </a:avLst>
          </a:prstGeom>
          <a:solidFill>
            <a:srgbClr val="1C7293"/>
          </a:solidFill>
          <a:ln w="12700">
            <a:solidFill>
              <a:srgbClr val="1C7293"/>
            </a:solidFill>
            <a:prstDash val="solid"/>
          </a:ln>
        </p:spPr>
      </p:sp>
      <p:sp>
        <p:nvSpPr>
          <p:cNvPr id="9" name="Text 7"/>
          <p:cNvSpPr txBox="1"/>
          <p:nvPr/>
        </p:nvSpPr>
        <p:spPr>
          <a:xfrm>
            <a:off x="4251960"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4965192"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Abstract screen</a:t>
            </a:r>
            <a:endParaRPr lang="en-US" sz="1450" dirty="0"/>
          </a:p>
        </p:txBody>
      </p:sp>
      <p:sp>
        <p:nvSpPr>
          <p:cNvPr id="11" name="Text 9"/>
          <p:cNvSpPr txBox="1"/>
          <p:nvPr/>
        </p:nvSpPr>
        <p:spPr>
          <a:xfrm>
            <a:off x="4965192"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LLM, criteria from the paper</a:t>
            </a:r>
            <a:endParaRPr lang="en-US" sz="1150" dirty="0"/>
          </a:p>
        </p:txBody>
      </p:sp>
      <p:sp>
        <p:nvSpPr>
          <p:cNvPr id="12" name="Shape 10"/>
          <p:cNvSpPr/>
          <p:nvPr/>
        </p:nvSpPr>
        <p:spPr>
          <a:xfrm>
            <a:off x="7936992" y="1737360"/>
            <a:ext cx="566928" cy="566928"/>
          </a:xfrm>
          <a:prstGeom prst="roundRect">
            <a:avLst>
              <a:gd name="adj" fmla="val 16129"/>
            </a:avLst>
          </a:prstGeom>
          <a:solidFill>
            <a:srgbClr val="1C7293"/>
          </a:solidFill>
          <a:ln w="12700">
            <a:solidFill>
              <a:srgbClr val="1C7293"/>
            </a:solidFill>
            <a:prstDash val="solid"/>
          </a:ln>
        </p:spPr>
      </p:sp>
      <p:sp>
        <p:nvSpPr>
          <p:cNvPr id="13" name="Text 11"/>
          <p:cNvSpPr txBox="1"/>
          <p:nvPr/>
        </p:nvSpPr>
        <p:spPr>
          <a:xfrm>
            <a:off x="7936992"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8650224"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Retrieval</a:t>
            </a:r>
            <a:endParaRPr lang="en-US" sz="1450" dirty="0"/>
          </a:p>
        </p:txBody>
      </p:sp>
      <p:sp>
        <p:nvSpPr>
          <p:cNvPr id="15" name="Text 13"/>
          <p:cNvSpPr txBox="1"/>
          <p:nvPr/>
        </p:nvSpPr>
        <p:spPr>
          <a:xfrm>
            <a:off x="8650224"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full text via pubget</a:t>
            </a:r>
            <a:endParaRPr lang="en-US" sz="1150" dirty="0"/>
          </a:p>
        </p:txBody>
      </p:sp>
      <p:sp>
        <p:nvSpPr>
          <p:cNvPr id="16" name="Shape 14"/>
          <p:cNvSpPr/>
          <p:nvPr/>
        </p:nvSpPr>
        <p:spPr>
          <a:xfrm>
            <a:off x="566928" y="2926080"/>
            <a:ext cx="566928" cy="566928"/>
          </a:xfrm>
          <a:prstGeom prst="roundRect">
            <a:avLst>
              <a:gd name="adj" fmla="val 16129"/>
            </a:avLst>
          </a:prstGeom>
          <a:solidFill>
            <a:srgbClr val="1C7293"/>
          </a:solidFill>
          <a:ln w="12700">
            <a:solidFill>
              <a:srgbClr val="1C7293"/>
            </a:solidFill>
            <a:prstDash val="solid"/>
          </a:ln>
        </p:spPr>
      </p:sp>
      <p:sp>
        <p:nvSpPr>
          <p:cNvPr id="17" name="Text 15"/>
          <p:cNvSpPr txBox="1"/>
          <p:nvPr/>
        </p:nvSpPr>
        <p:spPr>
          <a:xfrm>
            <a:off x="566928"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Parsing</a:t>
            </a:r>
            <a:endParaRPr lang="en-US" sz="1450" dirty="0"/>
          </a:p>
        </p:txBody>
      </p:sp>
      <p:sp>
        <p:nvSpPr>
          <p:cNvPr id="19" name="Text 17"/>
          <p:cNvSpPr txBox="1"/>
          <p:nvPr/>
        </p:nvSpPr>
        <p:spPr>
          <a:xfrm>
            <a:off x="1280160"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coordinate tables → analyses</a:t>
            </a:r>
            <a:endParaRPr lang="en-US" sz="1150" dirty="0"/>
          </a:p>
        </p:txBody>
      </p:sp>
      <p:sp>
        <p:nvSpPr>
          <p:cNvPr id="20" name="Shape 18"/>
          <p:cNvSpPr/>
          <p:nvPr/>
        </p:nvSpPr>
        <p:spPr>
          <a:xfrm>
            <a:off x="4251960" y="2926080"/>
            <a:ext cx="566928" cy="566928"/>
          </a:xfrm>
          <a:prstGeom prst="roundRect">
            <a:avLst>
              <a:gd name="adj" fmla="val 16129"/>
            </a:avLst>
          </a:prstGeom>
          <a:solidFill>
            <a:srgbClr val="1C7293"/>
          </a:solidFill>
          <a:ln w="12700">
            <a:solidFill>
              <a:srgbClr val="1C7293"/>
            </a:solidFill>
            <a:prstDash val="solid"/>
          </a:ln>
        </p:spPr>
      </p:sp>
      <p:sp>
        <p:nvSpPr>
          <p:cNvPr id="21" name="Text 19"/>
          <p:cNvSpPr txBox="1"/>
          <p:nvPr/>
        </p:nvSpPr>
        <p:spPr>
          <a:xfrm>
            <a:off x="4251960"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4965192"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Annotation</a:t>
            </a:r>
            <a:endParaRPr lang="en-US" sz="1450" dirty="0"/>
          </a:p>
        </p:txBody>
      </p:sp>
      <p:sp>
        <p:nvSpPr>
          <p:cNvPr id="23" name="Text 21"/>
          <p:cNvSpPr txBox="1"/>
          <p:nvPr/>
        </p:nvSpPr>
        <p:spPr>
          <a:xfrm>
            <a:off x="4965192"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assign analyses to contrasts</a:t>
            </a:r>
            <a:endParaRPr lang="en-US" sz="1150" dirty="0"/>
          </a:p>
        </p:txBody>
      </p:sp>
      <p:sp>
        <p:nvSpPr>
          <p:cNvPr id="24" name="Shape 22"/>
          <p:cNvSpPr/>
          <p:nvPr/>
        </p:nvSpPr>
        <p:spPr>
          <a:xfrm>
            <a:off x="7936992" y="2926080"/>
            <a:ext cx="566928" cy="566928"/>
          </a:xfrm>
          <a:prstGeom prst="roundRect">
            <a:avLst>
              <a:gd name="adj" fmla="val 16129"/>
            </a:avLst>
          </a:prstGeom>
          <a:solidFill>
            <a:srgbClr val="1C7293"/>
          </a:solidFill>
          <a:ln w="12700">
            <a:solidFill>
              <a:srgbClr val="1C7293"/>
            </a:solidFill>
            <a:prstDash val="solid"/>
          </a:ln>
        </p:spPr>
      </p:sp>
      <p:sp>
        <p:nvSpPr>
          <p:cNvPr id="25" name="Text 23"/>
          <p:cNvSpPr txBox="1"/>
          <p:nvPr/>
        </p:nvSpPr>
        <p:spPr>
          <a:xfrm>
            <a:off x="7936992"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8650224"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Meta-analysis</a:t>
            </a:r>
            <a:endParaRPr lang="en-US" sz="1450" dirty="0"/>
          </a:p>
        </p:txBody>
      </p:sp>
      <p:sp>
        <p:nvSpPr>
          <p:cNvPr id="27" name="Text 25"/>
          <p:cNvSpPr txBox="1"/>
          <p:nvPr/>
        </p:nvSpPr>
        <p:spPr>
          <a:xfrm>
            <a:off x="8650224"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MKDA → brain map</a:t>
            </a:r>
            <a:endParaRPr lang="en-US" sz="1150" dirty="0"/>
          </a:p>
        </p:txBody>
      </p:sp>
      <p:sp>
        <p:nvSpPr>
          <p:cNvPr id="28" name="Shape 26"/>
          <p:cNvSpPr/>
          <p:nvPr/>
        </p:nvSpPr>
        <p:spPr>
          <a:xfrm>
            <a:off x="566928" y="4315968"/>
            <a:ext cx="2572436" cy="1143000"/>
          </a:xfrm>
          <a:prstGeom prst="roundRect">
            <a:avLst>
              <a:gd name="adj" fmla="val 6400"/>
            </a:avLst>
          </a:prstGeom>
          <a:solidFill>
            <a:srgbClr val="EEF3F7"/>
          </a:solidFill>
          <a:ln w="12700">
            <a:solidFill>
              <a:srgbClr val="EEF3F7"/>
            </a:solidFill>
            <a:prstDash val="solid"/>
          </a:ln>
        </p:spPr>
      </p:sp>
      <p:sp>
        <p:nvSpPr>
          <p:cNvPr id="29" name="Text 27"/>
          <p:cNvSpPr txBox="1"/>
          <p:nvPr/>
        </p:nvSpPr>
        <p:spPr>
          <a:xfrm>
            <a:off x="676656"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9</a:t>
            </a:r>
            <a:endParaRPr lang="en-US" sz="2600" dirty="0"/>
          </a:p>
        </p:txBody>
      </p:sp>
      <p:sp>
        <p:nvSpPr>
          <p:cNvPr id="30" name="Text 28"/>
          <p:cNvSpPr txBox="1"/>
          <p:nvPr/>
        </p:nvSpPr>
        <p:spPr>
          <a:xfrm>
            <a:off x="676656"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published meta-analyses</a:t>
            </a:r>
            <a:endParaRPr lang="en-US" sz="1100" dirty="0"/>
          </a:p>
        </p:txBody>
      </p:sp>
      <p:sp>
        <p:nvSpPr>
          <p:cNvPr id="31" name="Shape 29"/>
          <p:cNvSpPr/>
          <p:nvPr/>
        </p:nvSpPr>
        <p:spPr>
          <a:xfrm>
            <a:off x="3395396" y="4315968"/>
            <a:ext cx="2572436" cy="1143000"/>
          </a:xfrm>
          <a:prstGeom prst="roundRect">
            <a:avLst>
              <a:gd name="adj" fmla="val 6400"/>
            </a:avLst>
          </a:prstGeom>
          <a:solidFill>
            <a:srgbClr val="EEF3F7"/>
          </a:solidFill>
          <a:ln w="12700">
            <a:solidFill>
              <a:srgbClr val="EEF3F7"/>
            </a:solidFill>
            <a:prstDash val="solid"/>
          </a:ln>
        </p:spPr>
      </p:sp>
      <p:sp>
        <p:nvSpPr>
          <p:cNvPr id="32" name="Text 30"/>
          <p:cNvSpPr txBox="1"/>
          <p:nvPr/>
        </p:nvSpPr>
        <p:spPr>
          <a:xfrm>
            <a:off x="3505124"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32</a:t>
            </a:r>
            <a:endParaRPr lang="en-US" sz="2600" dirty="0"/>
          </a:p>
        </p:txBody>
      </p:sp>
      <p:sp>
        <p:nvSpPr>
          <p:cNvPr id="33" name="Text 31"/>
          <p:cNvSpPr txBox="1"/>
          <p:nvPr/>
        </p:nvSpPr>
        <p:spPr>
          <a:xfrm>
            <a:off x="3505124"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benchmark contrasts scored</a:t>
            </a:r>
            <a:endParaRPr lang="en-US" sz="1100" dirty="0"/>
          </a:p>
        </p:txBody>
      </p:sp>
      <p:sp>
        <p:nvSpPr>
          <p:cNvPr id="34" name="Shape 32"/>
          <p:cNvSpPr/>
          <p:nvPr/>
        </p:nvSpPr>
        <p:spPr>
          <a:xfrm>
            <a:off x="6223864" y="4315968"/>
            <a:ext cx="2572436" cy="1143000"/>
          </a:xfrm>
          <a:prstGeom prst="roundRect">
            <a:avLst>
              <a:gd name="adj" fmla="val 6400"/>
            </a:avLst>
          </a:prstGeom>
          <a:solidFill>
            <a:srgbClr val="EEF3F7"/>
          </a:solidFill>
          <a:ln w="12700">
            <a:solidFill>
              <a:srgbClr val="EEF3F7"/>
            </a:solidFill>
            <a:prstDash val="solid"/>
          </a:ln>
        </p:spPr>
      </p:sp>
      <p:sp>
        <p:nvSpPr>
          <p:cNvPr id="35" name="Text 33"/>
          <p:cNvSpPr txBox="1"/>
          <p:nvPr/>
        </p:nvSpPr>
        <p:spPr>
          <a:xfrm>
            <a:off x="6333592"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a:t>
            </a:r>
            <a:endParaRPr lang="en-US" sz="2600" dirty="0"/>
          </a:p>
        </p:txBody>
      </p:sp>
      <p:sp>
        <p:nvSpPr>
          <p:cNvPr id="36" name="Text 34"/>
          <p:cNvSpPr txBox="1"/>
          <p:nvPr/>
        </p:nvSpPr>
        <p:spPr>
          <a:xfrm>
            <a:off x="6333592"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arms per contrast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(pipeline / search baseline / expert)</a:t>
            </a:r>
            <a:endParaRPr lang="en-US" sz="1100" dirty="0"/>
          </a:p>
        </p:txBody>
      </p:sp>
      <p:sp>
        <p:nvSpPr>
          <p:cNvPr id="37" name="Shape 35"/>
          <p:cNvSpPr/>
          <p:nvPr/>
        </p:nvSpPr>
        <p:spPr>
          <a:xfrm>
            <a:off x="9052331" y="4315968"/>
            <a:ext cx="2572436" cy="1143000"/>
          </a:xfrm>
          <a:prstGeom prst="roundRect">
            <a:avLst>
              <a:gd name="adj" fmla="val 6400"/>
            </a:avLst>
          </a:prstGeom>
          <a:solidFill>
            <a:srgbClr val="EEF3F7"/>
          </a:solidFill>
          <a:ln w="12700">
            <a:solidFill>
              <a:srgbClr val="EEF3F7"/>
            </a:solidFill>
            <a:prstDash val="solid"/>
          </a:ln>
        </p:spPr>
      </p:sp>
      <p:sp>
        <p:nvSpPr>
          <p:cNvPr id="38" name="Text 36"/>
          <p:cNvSpPr txBox="1"/>
          <p:nvPr/>
        </p:nvSpPr>
        <p:spPr>
          <a:xfrm>
            <a:off x="9162059"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MKDA</a:t>
            </a:r>
            <a:endParaRPr lang="en-US" sz="2600" dirty="0"/>
          </a:p>
        </p:txBody>
      </p:sp>
      <p:sp>
        <p:nvSpPr>
          <p:cNvPr id="39" name="Text 37"/>
          <p:cNvSpPr txBox="1"/>
          <p:nvPr/>
        </p:nvSpPr>
        <p:spPr>
          <a:xfrm>
            <a:off x="9162059"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one estimator throughout,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for comparability</a:t>
            </a:r>
            <a:endParaRPr lang="en-US" sz="1100" dirty="0"/>
          </a:p>
        </p:txBody>
      </p:sp>
      <p:sp>
        <p:nvSpPr>
          <p:cNvPr id="40" name="Text 38"/>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Each contrast is scored as a brain-map similarity against the published meta-analytic map for that contrast.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Screening raises precision at little cost to recall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73% of gold-standard studies survive to the end of the funnel; abstract screening costs a median 1.4 points of them. Mean precision rises 0.10 → 0.32.</a:t>
            </a:r>
            <a:endParaRPr lang="en-US" sz="1500" dirty="0"/>
          </a:p>
        </p:txBody>
      </p:sp>
      <p:pic>
        <p:nvPicPr>
          <p:cNvPr id="4" name="Image 0" descr="/home/zorro/repos/autonima-results/reports/deck_figures/figure2_gold_retention_and_precision.png">    </p:cNvPr>
          <p:cNvPicPr>
            <a:picLocks noChangeAspect="1"/>
          </p:cNvPicPr>
          <p:nvPr/>
        </p:nvPicPr>
        <p:blipFill>
          <a:blip r:embed="rId1"/>
          <a:stretch>
            <a:fillRect/>
          </a:stretch>
        </p:blipFill>
        <p:spPr>
          <a:xfrm>
            <a:off x="1821043" y="1627632"/>
            <a:ext cx="8549608"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One line per project, black = mean across all nine. Retrieval is shown as its own stage — losing a full text is a supply problem, not a judgement.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Much of the 'low' precision is a pool mismatch</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Our PubMed query returns a different corpus than the published review's, so studies that could never have been included count as false positives.</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+0.142 precision</a:t>
            </a:r>
            <a:pPr indent="0" marL="0">
              <a:buNone/>
            </a:pPr>
            <a:r>
              <a:rPr lang="en-US" sz="1400" dirty="0">
                <a:solidFill>
                  <a:srgbClr val="0F2A3F"/>
                </a:solidFill>
                <a:latin typeface="Calibri" pitchFamily="34" charset="0"/>
                <a:ea typeface="Calibri" pitchFamily="34" charset="-122"/>
                <a:cs typeface="Calibri" pitchFamily="34" charset="-120"/>
              </a:rPr>
              <a:t>  attributable to the pool alone at full-text screening (0.349 → 0.491), and it costs </a:t>
            </a:r>
            <a:pPr indent="0" marL="0">
              <a:buNone/>
            </a:pPr>
            <a:r>
              <a:rPr lang="en-US" sz="1400" b="1" dirty="0">
                <a:solidFill>
                  <a:srgbClr val="0A3D5C"/>
                </a:solidFill>
                <a:latin typeface="Calibri" pitchFamily="34" charset="0"/>
                <a:ea typeface="Calibri" pitchFamily="34" charset="-122"/>
                <a:cs typeface="Calibri" pitchFamily="34" charset="-120"/>
              </a:rPr>
              <a:t>no recall</a:t>
            </a:r>
            <a:pPr indent="0" marL="0">
              <a:buNone/>
            </a:pPr>
            <a:r>
              <a:rPr lang="en-US" sz="1400" dirty="0">
                <a:solidFill>
                  <a:srgbClr val="0F2A3F"/>
                </a:solidFill>
                <a:latin typeface="Calibri" pitchFamily="34" charset="0"/>
                <a:ea typeface="Calibri" pitchFamily="34" charset="-122"/>
                <a:cs typeface="Calibri" pitchFamily="34" charset="-120"/>
              </a:rPr>
              <a:t> (+0.007).</a:t>
            </a:r>
            <a:endParaRPr lang="en-US" sz="1400" dirty="0"/>
          </a:p>
        </p:txBody>
      </p:sp>
      <p:pic>
        <p:nvPicPr>
          <p:cNvPr id="5" name="Image 0" descr="/home/zorro/repos/autonima-results/reports/deck_figures/figureS3_pool_mismatch.png">    </p:cNvPr>
          <p:cNvPicPr>
            <a:picLocks noChangeAspect="1"/>
          </p:cNvPicPr>
          <p:nvPr/>
        </p:nvPicPr>
        <p:blipFill>
          <a:blip r:embed="rId1"/>
          <a:stretch>
            <a:fillRect/>
          </a:stretch>
        </p:blipFill>
        <p:spPr>
          <a:xfrm>
            <a:off x="2711297" y="1993392"/>
            <a:ext cx="6769102" cy="379476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Three projects have a fixed-pool arm. Panel b is the control: a precision gain bought by discarding borderline true positives would show up as a recall loss, and does not.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Recovering the analyses, then selecting among them</a:t>
            </a:r>
            <a:endParaRPr lang="en-US" sz="3100" dirty="0"/>
          </a:p>
        </p:txBody>
      </p:sp>
      <p:pic>
        <p:nvPicPr>
          <p:cNvPr id="3" name="Image 0" descr="/home/zorro/repos/autonima-results/reports/deck_figures/figure3_recover_and_select_analyses.png">    </p:cNvPr>
          <p:cNvPicPr>
            <a:picLocks noChangeAspect="1"/>
          </p:cNvPicPr>
          <p:nvPr/>
        </p:nvPicPr>
        <p:blipFill>
          <a:blip r:embed="rId1"/>
          <a:stretch>
            <a:fillRect/>
          </a:stretch>
        </p:blipFill>
        <p:spPr>
          <a:xfrm>
            <a:off x="4160520" y="1868712"/>
            <a:ext cx="7452360" cy="3532056"/>
          </a:xfrm>
          <a:prstGeom prst="rect">
            <a:avLst/>
          </a:prstGeom>
        </p:spPr>
      </p:pic>
      <p:sp>
        <p:nvSpPr>
          <p:cNvPr id="4" name="Text 1"/>
          <p:cNvSpPr txBox="1"/>
          <p:nvPr/>
        </p:nvSpPr>
        <p:spPr>
          <a:xfrm>
            <a:off x="566928" y="1627632"/>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90%</a:t>
            </a:r>
            <a:endParaRPr lang="en-US" sz="3000" dirty="0"/>
          </a:p>
        </p:txBody>
      </p:sp>
      <p:sp>
        <p:nvSpPr>
          <p:cNvPr id="5" name="Text 2"/>
          <p:cNvSpPr txBox="1"/>
          <p:nvPr/>
        </p:nvSpPr>
        <p:spPr>
          <a:xfrm>
            <a:off x="566928" y="2130552"/>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of the experts' analyses recovered by parsing</a:t>
            </a:r>
            <a:endParaRPr lang="en-US" sz="1300" dirty="0"/>
          </a:p>
        </p:txBody>
      </p:sp>
      <p:sp>
        <p:nvSpPr>
          <p:cNvPr id="6" name="Text 3"/>
          <p:cNvSpPr txBox="1"/>
          <p:nvPr/>
        </p:nvSpPr>
        <p:spPr>
          <a:xfrm>
            <a:off x="566928" y="2496312"/>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range 63–100% across projects</a:t>
            </a:r>
            <a:endParaRPr lang="en-US" sz="1100" dirty="0"/>
          </a:p>
        </p:txBody>
      </p:sp>
      <p:sp>
        <p:nvSpPr>
          <p:cNvPr id="7" name="Text 4"/>
          <p:cNvSpPr txBox="1"/>
          <p:nvPr/>
        </p:nvSpPr>
        <p:spPr>
          <a:xfrm>
            <a:off x="566928" y="3017520"/>
            <a:ext cx="3291840" cy="502920"/>
          </a:xfrm>
          <a:prstGeom prst="rect">
            <a:avLst/>
          </a:prstGeom>
          <a:noFill/>
          <a:ln/>
        </p:spPr>
        <p:txBody>
          <a:bodyPr wrap="square" lIns="0" tIns="0" rIns="0" bIns="0" rtlCol="0" anchor="ctr"/>
          <a:lstStyle/>
          <a:p>
            <a:pPr indent="0" marL="0">
              <a:buNone/>
            </a:pPr>
            <a:r>
              <a:rPr lang="en-US" sz="3000" b="1" dirty="0">
                <a:solidFill>
                  <a:srgbClr val="5C7286"/>
                </a:solidFill>
                <a:latin typeface="Cambria" pitchFamily="34" charset="0"/>
                <a:ea typeface="Cambria" pitchFamily="34" charset="-122"/>
                <a:cs typeface="Cambria" pitchFamily="34" charset="-120"/>
              </a:rPr>
              <a:t>33%</a:t>
            </a:r>
            <a:endParaRPr lang="en-US" sz="3000" dirty="0"/>
          </a:p>
        </p:txBody>
      </p:sp>
      <p:sp>
        <p:nvSpPr>
          <p:cNvPr id="8" name="Text 5"/>
          <p:cNvSpPr txBox="1"/>
          <p:nvPr/>
        </p:nvSpPr>
        <p:spPr>
          <a:xfrm>
            <a:off x="566928" y="3520440"/>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recovered by a table-only baseline</a:t>
            </a:r>
            <a:endParaRPr lang="en-US" sz="1300" dirty="0"/>
          </a:p>
        </p:txBody>
      </p:sp>
      <p:sp>
        <p:nvSpPr>
          <p:cNvPr id="9" name="Text 6"/>
          <p:cNvSpPr txBox="1"/>
          <p:nvPr/>
        </p:nvSpPr>
        <p:spPr>
          <a:xfrm>
            <a:off x="566928" y="3886200"/>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coordinate tables taken as parsed</a:t>
            </a:r>
            <a:endParaRPr lang="en-US" sz="1100" dirty="0"/>
          </a:p>
        </p:txBody>
      </p:sp>
      <p:sp>
        <p:nvSpPr>
          <p:cNvPr id="10" name="Text 7"/>
          <p:cNvSpPr txBox="1"/>
          <p:nvPr/>
        </p:nvSpPr>
        <p:spPr>
          <a:xfrm>
            <a:off x="566928" y="4407408"/>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0.668</a:t>
            </a:r>
            <a:endParaRPr lang="en-US" sz="3000" dirty="0"/>
          </a:p>
        </p:txBody>
      </p:sp>
      <p:sp>
        <p:nvSpPr>
          <p:cNvPr id="11" name="Text 8"/>
          <p:cNvSpPr txBox="1"/>
          <p:nvPr/>
        </p:nvSpPr>
        <p:spPr>
          <a:xfrm>
            <a:off x="566928" y="4910328"/>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mean annotation F1</a:t>
            </a:r>
            <a:endParaRPr lang="en-US" sz="1300" dirty="0"/>
          </a:p>
        </p:txBody>
      </p:sp>
      <p:sp>
        <p:nvSpPr>
          <p:cNvPr id="12" name="Text 9"/>
          <p:cNvSpPr txBox="1"/>
          <p:nvPr/>
        </p:nvSpPr>
        <p:spPr>
          <a:xfrm>
            <a:off x="566928" y="5276088"/>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assigning analyses to the right contrast</a:t>
            </a:r>
            <a:endParaRPr lang="en-US" sz="1100" dirty="0"/>
          </a:p>
        </p:txBody>
      </p:sp>
      <p:sp>
        <p:nvSpPr>
          <p:cNvPr id="13" name="Text 10"/>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Two operations that both live below the paper: reconstruct the analyses at all, then decide which belong to the contrast.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beats the strongest available baseline</a:t>
            </a:r>
            <a:endParaRPr lang="en-US" sz="3100" dirty="0"/>
          </a:p>
        </p:txBody>
      </p:sp>
      <p:sp>
        <p:nvSpPr>
          <p:cNvPr id="3" name="Shape 1"/>
          <p:cNvSpPr/>
          <p:nvPr/>
        </p:nvSpPr>
        <p:spPr>
          <a:xfrm>
            <a:off x="566928" y="1600200"/>
            <a:ext cx="3063240" cy="2286000"/>
          </a:xfrm>
          <a:prstGeom prst="roundRect">
            <a:avLst>
              <a:gd name="adj" fmla="val 4800"/>
            </a:avLst>
          </a:prstGeom>
          <a:solidFill>
            <a:srgbClr val="0A3D5C"/>
          </a:solidFill>
          <a:ln w="12700">
            <a:solidFill>
              <a:srgbClr val="0A3D5C"/>
            </a:solidFill>
            <a:prstDash val="solid"/>
          </a:ln>
        </p:spPr>
      </p:sp>
      <p:sp>
        <p:nvSpPr>
          <p:cNvPr id="4" name="Text 2"/>
          <p:cNvSpPr txBox="1"/>
          <p:nvPr/>
        </p:nvSpPr>
        <p:spPr>
          <a:xfrm>
            <a:off x="566928" y="1874520"/>
            <a:ext cx="306324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+0.099</a:t>
            </a:r>
            <a:endParaRPr lang="en-US" sz="4200" dirty="0"/>
          </a:p>
        </p:txBody>
      </p:sp>
      <p:sp>
        <p:nvSpPr>
          <p:cNvPr id="5" name="Text 3"/>
          <p:cNvSpPr txBox="1"/>
          <p:nvPr/>
        </p:nvSpPr>
        <p:spPr>
          <a:xfrm>
            <a:off x="704088" y="2697480"/>
            <a:ext cx="2788920" cy="731520"/>
          </a:xfrm>
          <a:prstGeom prst="rect">
            <a:avLst/>
          </a:prstGeom>
          <a:noFill/>
          <a:ln/>
        </p:spPr>
        <p:txBody>
          <a:bodyPr wrap="square" lIns="0" tIns="0" rIns="0" bIns="0" rtlCol="0" anchor="ctr"/>
          <a:lstStyle/>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mean ΔR² vs the best</a:t>
            </a:r>
            <a:endParaRPr lang="en-US" sz="1200" dirty="0"/>
          </a:p>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available baseline per contrast</a:t>
            </a:r>
            <a:endParaRPr lang="en-US" sz="1200" dirty="0"/>
          </a:p>
        </p:txBody>
      </p:sp>
      <p:sp>
        <p:nvSpPr>
          <p:cNvPr id="6" name="Text 4"/>
          <p:cNvSpPr txBox="1"/>
          <p:nvPr/>
        </p:nvSpPr>
        <p:spPr>
          <a:xfrm>
            <a:off x="566928" y="4206240"/>
            <a:ext cx="306324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Ahead in 28 of 32 contrasts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95% CI [+0.038, +0.181], bootstrapped over projects — not contrasts, which share a corpus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Sign test P = 1.9 × 10⁻⁵</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Wins while pooling fewer analyses in 23 of 30 — circle area is analyses pooled</a:t>
            </a:r>
            <a:endParaRPr lang="en-US" sz="1200" dirty="0"/>
          </a:p>
        </p:txBody>
      </p:sp>
      <p:pic>
        <p:nvPicPr>
          <p:cNvPr id="7" name="Image 0" descr="/home/zorro/repos/autonima-results/reports/deck_figures/figure4_pipeline_vs_baseline.png">    </p:cNvPr>
          <p:cNvPicPr>
            <a:picLocks noChangeAspect="1"/>
          </p:cNvPicPr>
          <p:nvPr/>
        </p:nvPicPr>
        <p:blipFill>
          <a:blip r:embed="rId1"/>
          <a:stretch>
            <a:fillRect/>
          </a:stretch>
        </p:blipFill>
        <p:spPr>
          <a:xfrm>
            <a:off x="3977640" y="1887323"/>
            <a:ext cx="7635240" cy="3540554"/>
          </a:xfrm>
          <a:prstGeom prst="rect">
            <a:avLst/>
          </a:prstGeom>
        </p:spPr>
      </p:pic>
      <p:sp>
        <p:nvSpPr>
          <p:cNvPr id="8" name="Text 5"/>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Baseline per contrast is the stronger of a targeted search and the project-wide pool, so the comparison is against the best a competent practitioner could assemble.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End-to-end recovery of published meta-analytic maps</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Emotion regulation: three contrasts, expert above and pipeline below, against the single search-only map that cannot distinguish them.</a:t>
            </a:r>
            <a:endParaRPr lang="en-US" sz="1500" dirty="0"/>
          </a:p>
        </p:txBody>
      </p:sp>
      <p:pic>
        <p:nvPicPr>
          <p:cNvPr id="4" name="Image 0" descr="/home/zorro/repos/autonima-results/reports/deck_figures/figure_er_surface_contrasts.png">    </p:cNvPr>
          <p:cNvPicPr>
            <a:picLocks noChangeAspect="1"/>
          </p:cNvPicPr>
          <p:nvPr/>
        </p:nvPicPr>
        <p:blipFill>
          <a:blip r:embed="rId1"/>
          <a:stretch>
            <a:fillRect/>
          </a:stretch>
        </p:blipFill>
        <p:spPr>
          <a:xfrm>
            <a:off x="566928" y="1662521"/>
            <a:ext cx="11057839" cy="3816422"/>
          </a:xfrm>
          <a:prstGeom prst="rect">
            <a:avLst/>
          </a:prstGeom>
        </p:spPr>
      </p:pic>
      <p:sp>
        <p:nvSpPr>
          <p:cNvPr id="5" name="Text 2"/>
          <p:cNvSpPr txBox="1"/>
          <p:nvPr/>
        </p:nvSpPr>
        <p:spPr>
          <a:xfrm>
            <a:off x="566928" y="5632704"/>
            <a:ext cx="11057839"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The pipeline separates the three contrasts; the search-only arm returns </a:t>
            </a:r>
            <a:pPr indent="0" marL="0">
              <a:buNone/>
            </a:pPr>
            <a:r>
              <a:rPr lang="en-US" sz="1350" b="1" dirty="0">
                <a:solidFill>
                  <a:srgbClr val="0A3D5C"/>
                </a:solidFill>
                <a:latin typeface="Calibri" pitchFamily="34" charset="0"/>
                <a:ea typeface="Calibri" pitchFamily="34" charset="-122"/>
                <a:cs typeface="Calibri" pitchFamily="34" charset="-120"/>
              </a:rPr>
              <a:t>one map for all three</a:t>
            </a:r>
            <a:pPr indent="0" marL="0">
              <a:buNone/>
            </a:pPr>
            <a:r>
              <a:rPr lang="en-US" sz="1350" dirty="0">
                <a:solidFill>
                  <a:srgbClr val="0F2A3F"/>
                </a:solidFill>
                <a:latin typeface="Calibri" pitchFamily="34" charset="0"/>
                <a:ea typeface="Calibri" pitchFamily="34" charset="-122"/>
                <a:cs typeface="Calibri" pitchFamily="34" charset="-120"/>
              </a:rPr>
              <a:t>. Dice roughly doubles to quadruples against it.</a:t>
            </a:r>
            <a:endParaRPr lang="en-US" sz="135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Dice at the FDR q ≤ 0.05 boundary (z &gt; 1.96) — the same threshold the panels are rendered at, so the number describes the picture. Cortical surface, so subcortex is not shown.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Meta-analytic recovery across the benchmark range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The same three arms, from the largest margin outside emotion regulation down to two near-ties.</a:t>
            </a:r>
            <a:endParaRPr lang="en-US" sz="1500" dirty="0"/>
          </a:p>
        </p:txBody>
      </p:sp>
      <p:pic>
        <p:nvPicPr>
          <p:cNvPr id="4" name="Image 0" descr="/home/zorro/repos/autonima-results/reports/deck_figures/figure_brain_maps_range.png">    </p:cNvPr>
          <p:cNvPicPr>
            <a:picLocks noChangeAspect="1"/>
          </p:cNvPicPr>
          <p:nvPr/>
        </p:nvPicPr>
        <p:blipFill>
          <a:blip r:embed="rId1"/>
          <a:stretch>
            <a:fillRect/>
          </a:stretch>
        </p:blipFill>
        <p:spPr>
          <a:xfrm>
            <a:off x="1392279" y="1572768"/>
            <a:ext cx="9407137" cy="3703320"/>
          </a:xfrm>
          <a:prstGeom prst="rect">
            <a:avLst/>
          </a:prstGeom>
        </p:spPr>
      </p:pic>
      <p:sp>
        <p:nvSpPr>
          <p:cNvPr id="5" name="Text 2"/>
          <p:cNvSpPr txBox="1"/>
          <p:nvPr/>
        </p:nvSpPr>
        <p:spPr>
          <a:xfrm>
            <a:off x="566928" y="5376672"/>
            <a:ext cx="11057839" cy="658368"/>
          </a:xfrm>
          <a:prstGeom prst="rect">
            <a:avLst/>
          </a:prstGeom>
          <a:noFill/>
          <a:ln/>
        </p:spPr>
        <p:txBody>
          <a:bodyPr wrap="square" lIns="0" tIns="0" rIns="0" bIns="0" rtlCol="0" anchor="t"/>
          <a:lstStyle/>
          <a:p>
            <a:pPr indent="0" marL="0">
              <a:buNone/>
            </a:pPr>
            <a:r>
              <a:rPr lang="en-US" sz="1300" b="1" dirty="0">
                <a:solidFill>
                  <a:srgbClr val="0A3D5C"/>
                </a:solidFill>
                <a:latin typeface="Calibri" pitchFamily="34" charset="0"/>
                <a:ea typeface="Calibri" pitchFamily="34" charset="-122"/>
                <a:cs typeface="Calibri" pitchFamily="34" charset="-120"/>
              </a:rPr>
              <a:t>Verbal problem solving</a:t>
            </a:r>
            <a:pPr indent="0" marL="0">
              <a:buNone/>
            </a:pPr>
            <a:r>
              <a:rPr lang="en-US" sz="1300" dirty="0">
                <a:solidFill>
                  <a:srgbClr val="0F2A3F"/>
                </a:solidFill>
                <a:latin typeface="Calibri" pitchFamily="34" charset="0"/>
                <a:ea typeface="Calibri" pitchFamily="34" charset="-122"/>
                <a:cs typeface="Calibri" pitchFamily="34" charset="-120"/>
              </a:rPr>
              <a:t> is the strongest non-ER case: the baseline is diffuse and bilateral, the pipeline resolves the expert's focal clusters. </a:t>
            </a:r>
            <a:pPr indent="0" marL="0">
              <a:buNone/>
            </a:pPr>
            <a:r>
              <a:rPr lang="en-US" sz="1300" b="1" dirty="0">
                <a:solidFill>
                  <a:srgbClr val="0A3D5C"/>
                </a:solidFill>
                <a:latin typeface="Calibri" pitchFamily="34" charset="0"/>
                <a:ea typeface="Calibri" pitchFamily="34" charset="-122"/>
                <a:cs typeface="Calibri" pitchFamily="34" charset="-120"/>
              </a:rPr>
              <a:t>Perceptual decision making</a:t>
            </a:r>
            <a:pPr indent="0" marL="0">
              <a:buNone/>
            </a:pPr>
            <a:r>
              <a:rPr lang="en-US" sz="1300" dirty="0">
                <a:solidFill>
                  <a:srgbClr val="0F2A3F"/>
                </a:solidFill>
                <a:latin typeface="Calibri" pitchFamily="34" charset="0"/>
                <a:ea typeface="Calibri" pitchFamily="34" charset="-122"/>
                <a:cs typeface="Calibri" pitchFamily="34" charset="-120"/>
              </a:rPr>
              <a:t> and </a:t>
            </a:r>
            <a:pPr indent="0" marL="0">
              <a:buNone/>
            </a:pPr>
            <a:r>
              <a:rPr lang="en-US" sz="1300" b="1" dirty="0">
                <a:solidFill>
                  <a:srgbClr val="0A3D5C"/>
                </a:solidFill>
                <a:latin typeface="Calibri" pitchFamily="34" charset="0"/>
                <a:ea typeface="Calibri" pitchFamily="34" charset="-122"/>
                <a:cs typeface="Calibri" pitchFamily="34" charset="-120"/>
              </a:rPr>
              <a:t>cognitive flexibility</a:t>
            </a:r>
            <a:pPr indent="0" marL="0">
              <a:buNone/>
            </a:pPr>
            <a:r>
              <a:rPr lang="en-US" sz="1300" dirty="0">
                <a:solidFill>
                  <a:srgbClr val="0F2A3F"/>
                </a:solidFill>
                <a:latin typeface="Calibri" pitchFamily="34" charset="0"/>
                <a:ea typeface="Calibri" pitchFamily="34" charset="-122"/>
                <a:cs typeface="Calibri" pitchFamily="34" charset="-120"/>
              </a:rPr>
              <a:t> are near-ties — the baseline already finds most of the pattern, so there is little left to add.</a:t>
            </a:r>
            <a:endParaRPr lang="en-US" sz="130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Selected columns, not a ranking — chosen to span the range rather than to flatter it. Figures 4 and 5 carry the full distribution.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gain is analysis selection, not paper selection</a:t>
            </a:r>
            <a:endParaRPr lang="en-US" sz="3100" dirty="0"/>
          </a:p>
        </p:txBody>
      </p:sp>
      <p:pic>
        <p:nvPicPr>
          <p:cNvPr id="3" name="Image 0" descr="/home/zorro/repos/autonima-results/reports/deck_figures/figure5_gain_from_analysis_selection.png">    </p:cNvPr>
          <p:cNvPicPr>
            <a:picLocks noChangeAspect="1"/>
          </p:cNvPicPr>
          <p:nvPr/>
        </p:nvPicPr>
        <p:blipFill>
          <a:blip r:embed="rId1"/>
          <a:stretch>
            <a:fillRect/>
          </a:stretch>
        </p:blipFill>
        <p:spPr>
          <a:xfrm>
            <a:off x="4534757" y="1371600"/>
            <a:ext cx="6621589" cy="4572000"/>
          </a:xfrm>
          <a:prstGeom prst="rect">
            <a:avLst/>
          </a:prstGeom>
        </p:spPr>
      </p:pic>
      <p:sp>
        <p:nvSpPr>
          <p:cNvPr id="4" name="Text 1"/>
          <p:cNvSpPr txBox="1"/>
          <p:nvPr/>
        </p:nvSpPr>
        <p:spPr>
          <a:xfrm>
            <a:off x="566928" y="1536192"/>
            <a:ext cx="3429000" cy="105156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Hold the studies fixed. Draw 500 random subsets the same size as the annotated one. Does annotation beat chance?</a:t>
            </a:r>
            <a:endParaRPr lang="en-US" sz="1350" dirty="0"/>
          </a:p>
        </p:txBody>
      </p:sp>
      <p:sp>
        <p:nvSpPr>
          <p:cNvPr id="5" name="Shape 2"/>
          <p:cNvSpPr/>
          <p:nvPr/>
        </p:nvSpPr>
        <p:spPr>
          <a:xfrm>
            <a:off x="566928" y="2697480"/>
            <a:ext cx="3246120" cy="1051560"/>
          </a:xfrm>
          <a:prstGeom prst="roundRect">
            <a:avLst>
              <a:gd name="adj" fmla="val 6957"/>
            </a:avLst>
          </a:prstGeom>
          <a:solidFill>
            <a:srgbClr val="EEF3F7"/>
          </a:solidFill>
          <a:ln w="12700">
            <a:solidFill>
              <a:srgbClr val="EEF3F7"/>
            </a:solidFill>
            <a:prstDash val="solid"/>
          </a:ln>
        </p:spPr>
      </p:sp>
      <p:sp>
        <p:nvSpPr>
          <p:cNvPr id="6" name="Text 3"/>
          <p:cNvSpPr txBox="1"/>
          <p:nvPr/>
        </p:nvSpPr>
        <p:spPr>
          <a:xfrm>
            <a:off x="676656" y="2788920"/>
            <a:ext cx="3026664" cy="475488"/>
          </a:xfrm>
          <a:prstGeom prst="rect">
            <a:avLst/>
          </a:prstGeom>
          <a:noFill/>
          <a:ln/>
        </p:spPr>
        <p:txBody>
          <a:bodyPr wrap="square" lIns="0" tIns="0" rIns="0" bIns="0" rtlCol="0" anchor="ctr"/>
          <a:lstStyle/>
          <a:p>
            <a:pPr algn="ctr" indent="0" marL="0">
              <a:buNone/>
            </a:pPr>
            <a:r>
              <a:rPr lang="en-US" sz="3000" b="1" dirty="0">
                <a:solidFill>
                  <a:srgbClr val="E69F00"/>
                </a:solidFill>
                <a:latin typeface="Cambria" pitchFamily="34" charset="0"/>
                <a:ea typeface="Cambria" pitchFamily="34" charset="-122"/>
                <a:cs typeface="Cambria" pitchFamily="34" charset="-120"/>
              </a:rPr>
              <a:t>+0.211</a:t>
            </a:r>
            <a:endParaRPr lang="en-US" sz="3000" dirty="0"/>
          </a:p>
        </p:txBody>
      </p:sp>
      <p:sp>
        <p:nvSpPr>
          <p:cNvPr id="7" name="Text 4"/>
          <p:cNvSpPr txBox="1"/>
          <p:nvPr/>
        </p:nvSpPr>
        <p:spPr>
          <a:xfrm>
            <a:off x="676656" y="3246120"/>
            <a:ext cx="3026664"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median ΔR² over a size-matched random selection</a:t>
            </a:r>
            <a:endParaRPr lang="en-US" sz="1100" dirty="0"/>
          </a:p>
        </p:txBody>
      </p:sp>
      <p:sp>
        <p:nvSpPr>
          <p:cNvPr id="8" name="Text 5"/>
          <p:cNvSpPr txBox="1"/>
          <p:nvPr/>
        </p:nvSpPr>
        <p:spPr>
          <a:xfrm>
            <a:off x="566928" y="3931920"/>
            <a:ext cx="342900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29 of 32 contrasts clear their own null at P &lt; 0.05</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24 sit outside all 500 draws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The 3 that fail all select 31–77% of their pool — little left to select</a:t>
            </a:r>
            <a:endParaRPr lang="en-US" sz="1200" dirty="0"/>
          </a:p>
        </p:txBody>
      </p:sp>
      <p:sp>
        <p:nvSpPr>
          <p:cNvPr id="9" name="Text 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Grey bar = 5–95% of the null; dot = observed. Matching the subset size is what separates selecting well from merely selecting fewer.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Which selection step earns the advantage?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Insert a third map between the two: screening applied, but no annotation — papers chosen, analyses not.</a:t>
            </a:r>
            <a:endParaRPr lang="en-US" sz="1500" dirty="0"/>
          </a:p>
        </p:txBody>
      </p:sp>
      <p:pic>
        <p:nvPicPr>
          <p:cNvPr id="4" name="Image 0" descr="/home/zorro/repos/autonima-results/reports/deck_figures/figureS5_selection_decomposition.png">    </p:cNvPr>
          <p:cNvPicPr>
            <a:picLocks noChangeAspect="1"/>
          </p:cNvPicPr>
          <p:nvPr/>
        </p:nvPicPr>
        <p:blipFill>
          <a:blip r:embed="rId1"/>
          <a:stretch>
            <a:fillRect/>
          </a:stretch>
        </p:blipFill>
        <p:spPr>
          <a:xfrm>
            <a:off x="3977640" y="1511793"/>
            <a:ext cx="7635240" cy="4099589"/>
          </a:xfrm>
          <a:prstGeom prst="rect">
            <a:avLst/>
          </a:prstGeom>
        </p:spPr>
      </p:pic>
      <p:sp>
        <p:nvSpPr>
          <p:cNvPr id="5" name="Shape 2"/>
          <p:cNvSpPr/>
          <p:nvPr/>
        </p:nvSpPr>
        <p:spPr>
          <a:xfrm>
            <a:off x="566928" y="1600200"/>
            <a:ext cx="3200400" cy="1188720"/>
          </a:xfrm>
          <a:prstGeom prst="roundRect">
            <a:avLst>
              <a:gd name="adj" fmla="val 6154"/>
            </a:avLst>
          </a:prstGeom>
          <a:solidFill>
            <a:srgbClr val="EEF3F7"/>
          </a:solidFill>
          <a:ln w="12700">
            <a:solidFill>
              <a:srgbClr val="EEF3F7"/>
            </a:solidFill>
            <a:prstDash val="solid"/>
          </a:ln>
        </p:spPr>
      </p:sp>
      <p:sp>
        <p:nvSpPr>
          <p:cNvPr id="6" name="Text 3"/>
          <p:cNvSpPr txBox="1"/>
          <p:nvPr/>
        </p:nvSpPr>
        <p:spPr>
          <a:xfrm>
            <a:off x="676656" y="1691640"/>
            <a:ext cx="2980944"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−0.000</a:t>
            </a:r>
            <a:endParaRPr lang="en-US" sz="2600" dirty="0"/>
          </a:p>
        </p:txBody>
      </p:sp>
      <p:sp>
        <p:nvSpPr>
          <p:cNvPr id="7" name="Text 4"/>
          <p:cNvSpPr txBox="1"/>
          <p:nvPr/>
        </p:nvSpPr>
        <p:spPr>
          <a:xfrm>
            <a:off x="676656" y="2148840"/>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papers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16 of 32 improve — a coin flip</a:t>
            </a:r>
            <a:endParaRPr lang="en-US" sz="1100" dirty="0"/>
          </a:p>
        </p:txBody>
      </p:sp>
      <p:sp>
        <p:nvSpPr>
          <p:cNvPr id="8" name="Shape 5"/>
          <p:cNvSpPr/>
          <p:nvPr/>
        </p:nvSpPr>
        <p:spPr>
          <a:xfrm>
            <a:off x="566928" y="2971800"/>
            <a:ext cx="3200400" cy="1188720"/>
          </a:xfrm>
          <a:prstGeom prst="roundRect">
            <a:avLst>
              <a:gd name="adj" fmla="val 6154"/>
            </a:avLst>
          </a:prstGeom>
          <a:solidFill>
            <a:srgbClr val="EEF3F7"/>
          </a:solidFill>
          <a:ln w="12700">
            <a:solidFill>
              <a:srgbClr val="EEF3F7"/>
            </a:solidFill>
            <a:prstDash val="solid"/>
          </a:ln>
        </p:spPr>
      </p:sp>
      <p:sp>
        <p:nvSpPr>
          <p:cNvPr id="9" name="Text 6"/>
          <p:cNvSpPr txBox="1"/>
          <p:nvPr/>
        </p:nvSpPr>
        <p:spPr>
          <a:xfrm>
            <a:off x="676656" y="3063240"/>
            <a:ext cx="2980944"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+0.099</a:t>
            </a:r>
            <a:endParaRPr lang="en-US" sz="2600" dirty="0"/>
          </a:p>
        </p:txBody>
      </p:sp>
      <p:sp>
        <p:nvSpPr>
          <p:cNvPr id="10" name="Text 7"/>
          <p:cNvSpPr txBox="1"/>
          <p:nvPr/>
        </p:nvSpPr>
        <p:spPr>
          <a:xfrm>
            <a:off x="676656" y="3520440"/>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analyses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28 of 32 improve</a:t>
            </a:r>
            <a:endParaRPr lang="en-US" sz="1100" dirty="0"/>
          </a:p>
        </p:txBody>
      </p:sp>
      <p:sp>
        <p:nvSpPr>
          <p:cNvPr id="11" name="Text 8"/>
          <p:cNvSpPr txBox="1"/>
          <p:nvPr/>
        </p:nvSpPr>
        <p:spPr>
          <a:xfrm>
            <a:off x="566928" y="4370832"/>
            <a:ext cx="3200400" cy="1371600"/>
          </a:xfrm>
          <a:prstGeom prst="rect">
            <a:avLst/>
          </a:prstGeom>
          <a:noFill/>
          <a:ln/>
        </p:spPr>
        <p:txBody>
          <a:bodyPr wrap="square" lIns="0" tIns="0" rIns="0" bIns="0" rtlCol="0" anchor="t"/>
          <a:lstStyle/>
          <a:p>
            <a:pPr indent="0" marL="0">
              <a:buNone/>
            </a:pPr>
            <a:r>
              <a:rPr lang="en-US" sz="1200" dirty="0">
                <a:solidFill>
                  <a:srgbClr val="0F2A3F"/>
                </a:solidFill>
                <a:latin typeface="Calibri" pitchFamily="34" charset="0"/>
                <a:ea typeface="Calibri" pitchFamily="34" charset="-122"/>
                <a:cs typeface="Calibri" pitchFamily="34" charset="-120"/>
              </a:rPr>
              <a:t>Both arms already select papers — the baseline by a targeted query, the pipeline by LLM screening — and they tie. The whole advantage comes from the step a search cannot perform.</a:t>
            </a:r>
            <a:endParaRPr lang="en-US" sz="12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Screening-only is the run's all_analyses column: one map per project, scored against each of its contrasts — which is what having no analysis selection actually means.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Could you skip the studyset and just ask a model?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Two text→map models, same queries, same scoring: NeuroQuery and NeuroVLM.</a:t>
            </a:r>
            <a:endParaRPr lang="en-US" sz="1500" dirty="0"/>
          </a:p>
        </p:txBody>
      </p:sp>
      <p:pic>
        <p:nvPicPr>
          <p:cNvPr id="4" name="Image 0" descr="/home/zorro/repos/autonima-results/reports/deck_figures/figureS4_text_to_map_baselines.png">    </p:cNvPr>
          <p:cNvPicPr>
            <a:picLocks noChangeAspect="1"/>
          </p:cNvPicPr>
          <p:nvPr/>
        </p:nvPicPr>
        <p:blipFill>
          <a:blip r:embed="rId1"/>
          <a:stretch>
            <a:fillRect/>
          </a:stretch>
        </p:blipFill>
        <p:spPr>
          <a:xfrm>
            <a:off x="2631258" y="1691640"/>
            <a:ext cx="6929179" cy="3200400"/>
          </a:xfrm>
          <a:prstGeom prst="rect">
            <a:avLst/>
          </a:prstGeom>
        </p:spPr>
      </p:pic>
      <p:sp>
        <p:nvSpPr>
          <p:cNvPr id="5" name="Shape 2"/>
          <p:cNvSpPr/>
          <p:nvPr/>
        </p:nvSpPr>
        <p:spPr>
          <a:xfrm>
            <a:off x="566928" y="5029200"/>
            <a:ext cx="2572436" cy="868680"/>
          </a:xfrm>
          <a:prstGeom prst="roundRect">
            <a:avLst>
              <a:gd name="adj" fmla="val 8421"/>
            </a:avLst>
          </a:prstGeom>
          <a:solidFill>
            <a:srgbClr val="EEF3F7"/>
          </a:solidFill>
          <a:ln w="12700">
            <a:solidFill>
              <a:srgbClr val="EEF3F7"/>
            </a:solidFill>
            <a:prstDash val="solid"/>
          </a:ln>
        </p:spPr>
      </p:sp>
      <p:sp>
        <p:nvSpPr>
          <p:cNvPr id="6" name="Text 3"/>
          <p:cNvSpPr txBox="1"/>
          <p:nvPr/>
        </p:nvSpPr>
        <p:spPr>
          <a:xfrm>
            <a:off x="676656"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0.075</a:t>
            </a:r>
            <a:endParaRPr lang="en-US" sz="2400" dirty="0"/>
          </a:p>
        </p:txBody>
      </p:sp>
      <p:sp>
        <p:nvSpPr>
          <p:cNvPr id="7" name="Text 4"/>
          <p:cNvSpPr txBox="1"/>
          <p:nvPr/>
        </p:nvSpPr>
        <p:spPr>
          <a:xfrm>
            <a:off x="676656"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NeuroQuery, mean R²</a:t>
            </a:r>
            <a:endParaRPr lang="en-US" sz="1100" dirty="0"/>
          </a:p>
        </p:txBody>
      </p:sp>
      <p:sp>
        <p:nvSpPr>
          <p:cNvPr id="8" name="Shape 5"/>
          <p:cNvSpPr/>
          <p:nvPr/>
        </p:nvSpPr>
        <p:spPr>
          <a:xfrm>
            <a:off x="3395396" y="5029200"/>
            <a:ext cx="2572436" cy="868680"/>
          </a:xfrm>
          <a:prstGeom prst="roundRect">
            <a:avLst>
              <a:gd name="adj" fmla="val 8421"/>
            </a:avLst>
          </a:prstGeom>
          <a:solidFill>
            <a:srgbClr val="EEF3F7"/>
          </a:solidFill>
          <a:ln w="12700">
            <a:solidFill>
              <a:srgbClr val="EEF3F7"/>
            </a:solidFill>
            <a:prstDash val="solid"/>
          </a:ln>
        </p:spPr>
      </p:sp>
      <p:sp>
        <p:nvSpPr>
          <p:cNvPr id="9" name="Text 6"/>
          <p:cNvSpPr txBox="1"/>
          <p:nvPr/>
        </p:nvSpPr>
        <p:spPr>
          <a:xfrm>
            <a:off x="3505124"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0.238</a:t>
            </a:r>
            <a:endParaRPr lang="en-US" sz="2400" dirty="0"/>
          </a:p>
        </p:txBody>
      </p:sp>
      <p:sp>
        <p:nvSpPr>
          <p:cNvPr id="10" name="Text 7"/>
          <p:cNvSpPr txBox="1"/>
          <p:nvPr/>
        </p:nvSpPr>
        <p:spPr>
          <a:xfrm>
            <a:off x="3505124"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NeuroVLM, mean R²</a:t>
            </a:r>
            <a:endParaRPr lang="en-US" sz="1100" dirty="0"/>
          </a:p>
        </p:txBody>
      </p:sp>
      <p:sp>
        <p:nvSpPr>
          <p:cNvPr id="11" name="Shape 8"/>
          <p:cNvSpPr/>
          <p:nvPr/>
        </p:nvSpPr>
        <p:spPr>
          <a:xfrm>
            <a:off x="6223864" y="5029200"/>
            <a:ext cx="2572436" cy="868680"/>
          </a:xfrm>
          <a:prstGeom prst="roundRect">
            <a:avLst>
              <a:gd name="adj" fmla="val 8421"/>
            </a:avLst>
          </a:prstGeom>
          <a:solidFill>
            <a:srgbClr val="EEF3F7"/>
          </a:solidFill>
          <a:ln w="12700">
            <a:solidFill>
              <a:srgbClr val="EEF3F7"/>
            </a:solidFill>
            <a:prstDash val="solid"/>
          </a:ln>
        </p:spPr>
      </p:sp>
      <p:sp>
        <p:nvSpPr>
          <p:cNvPr id="12" name="Text 9"/>
          <p:cNvSpPr txBox="1"/>
          <p:nvPr/>
        </p:nvSpPr>
        <p:spPr>
          <a:xfrm>
            <a:off x="6333592"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0.476</a:t>
            </a:r>
            <a:endParaRPr lang="en-US" sz="2400" dirty="0"/>
          </a:p>
        </p:txBody>
      </p:sp>
      <p:sp>
        <p:nvSpPr>
          <p:cNvPr id="13" name="Text 10"/>
          <p:cNvSpPr txBox="1"/>
          <p:nvPr/>
        </p:nvSpPr>
        <p:spPr>
          <a:xfrm>
            <a:off x="6333592"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best search baseline</a:t>
            </a:r>
            <a:endParaRPr lang="en-US" sz="1100" dirty="0"/>
          </a:p>
        </p:txBody>
      </p:sp>
      <p:sp>
        <p:nvSpPr>
          <p:cNvPr id="14" name="Shape 11"/>
          <p:cNvSpPr/>
          <p:nvPr/>
        </p:nvSpPr>
        <p:spPr>
          <a:xfrm>
            <a:off x="9052331" y="5029200"/>
            <a:ext cx="2572436" cy="868680"/>
          </a:xfrm>
          <a:prstGeom prst="roundRect">
            <a:avLst>
              <a:gd name="adj" fmla="val 8421"/>
            </a:avLst>
          </a:prstGeom>
          <a:solidFill>
            <a:srgbClr val="EEF3F7"/>
          </a:solidFill>
          <a:ln w="12700">
            <a:solidFill>
              <a:srgbClr val="EEF3F7"/>
            </a:solidFill>
            <a:prstDash val="solid"/>
          </a:ln>
        </p:spPr>
      </p:sp>
      <p:sp>
        <p:nvSpPr>
          <p:cNvPr id="15" name="Text 12"/>
          <p:cNvSpPr txBox="1"/>
          <p:nvPr/>
        </p:nvSpPr>
        <p:spPr>
          <a:xfrm>
            <a:off x="9162059" y="5120640"/>
            <a:ext cx="2352980" cy="475488"/>
          </a:xfrm>
          <a:prstGeom prst="rect">
            <a:avLst/>
          </a:prstGeom>
          <a:noFill/>
          <a:ln/>
        </p:spPr>
        <p:txBody>
          <a:bodyPr wrap="square" lIns="0" tIns="0" rIns="0" bIns="0" rtlCol="0" anchor="ctr"/>
          <a:lstStyle/>
          <a:p>
            <a:pPr algn="ctr" indent="0" marL="0">
              <a:buNone/>
            </a:pPr>
            <a:r>
              <a:rPr lang="en-US" sz="2400" b="1" dirty="0">
                <a:solidFill>
                  <a:srgbClr val="E69F00"/>
                </a:solidFill>
                <a:latin typeface="Cambria" pitchFamily="34" charset="0"/>
                <a:ea typeface="Cambria" pitchFamily="34" charset="-122"/>
                <a:cs typeface="Cambria" pitchFamily="34" charset="-120"/>
              </a:rPr>
              <a:t>0.574</a:t>
            </a:r>
            <a:endParaRPr lang="en-US" sz="2400" dirty="0"/>
          </a:p>
        </p:txBody>
      </p:sp>
      <p:sp>
        <p:nvSpPr>
          <p:cNvPr id="16" name="Text 13"/>
          <p:cNvSpPr txBox="1"/>
          <p:nvPr/>
        </p:nvSpPr>
        <p:spPr>
          <a:xfrm>
            <a:off x="9162059"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full pipeline</a:t>
            </a:r>
            <a:endParaRPr lang="en-US" sz="1100" dirty="0"/>
          </a:p>
        </p:txBody>
      </p:sp>
      <p:sp>
        <p:nvSpPr>
          <p:cNvPr id="17" name="Text 14"/>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Both peak on canonical terms (executive function, working memory) and collapse on condition contrasts (all three emotion-regulation columns ≈ 0.002–0.08). A term is not an analysis.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real risk is mis-prompting, not overfitting</a:t>
            </a:r>
            <a:endParaRPr lang="en-US" sz="3100" dirty="0"/>
          </a:p>
        </p:txBody>
      </p:sp>
      <p:pic>
        <p:nvPicPr>
          <p:cNvPr id="3" name="Image 0" descr="/home/zorro/repos/autonima-results/reports/deck_figures/figureS2_tier_progression.png">    </p:cNvPr>
          <p:cNvPicPr>
            <a:picLocks noChangeAspect="1"/>
          </p:cNvPicPr>
          <p:nvPr/>
        </p:nvPicPr>
        <p:blipFill>
          <a:blip r:embed="rId1"/>
          <a:stretch>
            <a:fillRect/>
          </a:stretch>
        </p:blipFill>
        <p:spPr>
          <a:xfrm>
            <a:off x="669368" y="1554480"/>
            <a:ext cx="4092800" cy="4206240"/>
          </a:xfrm>
          <a:prstGeom prst="rect">
            <a:avLst/>
          </a:prstGeom>
        </p:spPr>
      </p:pic>
      <p:sp>
        <p:nvSpPr>
          <p:cNvPr id="4" name="Text 1"/>
          <p:cNvSpPr txBox="1"/>
          <p:nvPr/>
        </p:nvSpPr>
        <p:spPr>
          <a:xfrm>
            <a:off x="5212080" y="1600200"/>
            <a:ext cx="6400800"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Runs are registered by how much of the benchmark shaped their criteria.</a:t>
            </a:r>
            <a:endParaRPr lang="en-US" sz="1350" dirty="0"/>
          </a:p>
        </p:txBody>
      </p:sp>
      <p:sp>
        <p:nvSpPr>
          <p:cNvPr id="5" name="Shape 2"/>
          <p:cNvSpPr/>
          <p:nvPr/>
        </p:nvSpPr>
        <p:spPr>
          <a:xfrm>
            <a:off x="5212080" y="2148840"/>
            <a:ext cx="3076956" cy="1417320"/>
          </a:xfrm>
          <a:prstGeom prst="roundRect">
            <a:avLst>
              <a:gd name="adj" fmla="val 5161"/>
            </a:avLst>
          </a:prstGeom>
          <a:solidFill>
            <a:srgbClr val="EEF3F7"/>
          </a:solidFill>
          <a:ln w="12700">
            <a:solidFill>
              <a:srgbClr val="EEF3F7"/>
            </a:solidFill>
            <a:prstDash val="solid"/>
          </a:ln>
        </p:spPr>
      </p:sp>
      <p:sp>
        <p:nvSpPr>
          <p:cNvPr id="6" name="Text 3"/>
          <p:cNvSpPr txBox="1"/>
          <p:nvPr/>
        </p:nvSpPr>
        <p:spPr>
          <a:xfrm>
            <a:off x="5321808" y="2240280"/>
            <a:ext cx="2857500"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+0.221</a:t>
            </a:r>
            <a:endParaRPr lang="en-US" sz="2800" dirty="0"/>
          </a:p>
        </p:txBody>
      </p:sp>
      <p:sp>
        <p:nvSpPr>
          <p:cNvPr id="7" name="Text 4"/>
          <p:cNvSpPr txBox="1"/>
          <p:nvPr/>
        </p:nvSpPr>
        <p:spPr>
          <a:xfrm>
            <a:off x="5321808"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verbatim → manual</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fixing major oversights in mis-specified criteria</a:t>
            </a:r>
            <a:endParaRPr lang="en-US" sz="1100" dirty="0"/>
          </a:p>
        </p:txBody>
      </p:sp>
      <p:sp>
        <p:nvSpPr>
          <p:cNvPr id="8" name="Shape 5"/>
          <p:cNvSpPr/>
          <p:nvPr/>
        </p:nvSpPr>
        <p:spPr>
          <a:xfrm>
            <a:off x="8545068" y="2148840"/>
            <a:ext cx="3076956" cy="1417320"/>
          </a:xfrm>
          <a:prstGeom prst="roundRect">
            <a:avLst>
              <a:gd name="adj" fmla="val 5161"/>
            </a:avLst>
          </a:prstGeom>
          <a:solidFill>
            <a:srgbClr val="EEF3F7"/>
          </a:solidFill>
          <a:ln w="12700">
            <a:solidFill>
              <a:srgbClr val="EEF3F7"/>
            </a:solidFill>
            <a:prstDash val="solid"/>
          </a:ln>
        </p:spPr>
      </p:sp>
      <p:sp>
        <p:nvSpPr>
          <p:cNvPr id="9" name="Text 6"/>
          <p:cNvSpPr txBox="1"/>
          <p:nvPr/>
        </p:nvSpPr>
        <p:spPr>
          <a:xfrm>
            <a:off x="8654796" y="2240280"/>
            <a:ext cx="2857500" cy="475488"/>
          </a:xfrm>
          <a:prstGeom prst="rect">
            <a:avLst/>
          </a:prstGeom>
          <a:noFill/>
          <a:ln/>
        </p:spPr>
        <p:txBody>
          <a:bodyPr wrap="square" lIns="0" tIns="0" rIns="0" bIns="0" rtlCol="0" anchor="ctr"/>
          <a:lstStyle/>
          <a:p>
            <a:pPr algn="ctr" indent="0" marL="0">
              <a:buNone/>
            </a:pPr>
            <a:r>
              <a:rPr lang="en-US" sz="2800" b="1" dirty="0">
                <a:solidFill>
                  <a:srgbClr val="0A3D5C"/>
                </a:solidFill>
                <a:latin typeface="Cambria" pitchFamily="34" charset="0"/>
                <a:ea typeface="Cambria" pitchFamily="34" charset="-122"/>
                <a:cs typeface="Cambria" pitchFamily="34" charset="-120"/>
              </a:rPr>
              <a:t>+0.031</a:t>
            </a:r>
            <a:endParaRPr lang="en-US" sz="2800" dirty="0"/>
          </a:p>
        </p:txBody>
      </p:sp>
      <p:sp>
        <p:nvSpPr>
          <p:cNvPr id="10" name="Text 7"/>
          <p:cNvSpPr txBox="1"/>
          <p:nvPr/>
        </p:nvSpPr>
        <p:spPr>
          <a:xfrm>
            <a:off x="8654796"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manual → best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rewriting criteria against the error reports</a:t>
            </a:r>
            <a:endParaRPr lang="en-US" sz="1100" dirty="0"/>
          </a:p>
        </p:txBody>
      </p:sp>
      <p:sp>
        <p:nvSpPr>
          <p:cNvPr id="11" name="Text 8"/>
          <p:cNvSpPr txBox="1"/>
          <p:nvPr/>
        </p:nvSpPr>
        <p:spPr>
          <a:xfrm>
            <a:off x="5212080" y="3794760"/>
            <a:ext cx="6409944" cy="1965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Almost the whole rise is the cost of getting criteria wrong — not the benefit of having seen the answers.</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It happened to us: dementia's verbatim criteria scored 0.112 against 0.358 once fixed, and nothing in the output announced it.</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Both n = 2 — an indication, not an estimate.</a:t>
            </a:r>
            <a:endParaRPr lang="en-US" sz="13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Mean over the three projects with all three tiers: 0.378 → 0.525 → 0.530. Steep, then flat.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How much does a re-run move?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Corpus frozen and verified identical; every LLM stage recomputed. Three projects.</a:t>
            </a:r>
            <a:endParaRPr lang="en-US" sz="1500" dirty="0"/>
          </a:p>
        </p:txBody>
      </p:sp>
      <p:sp>
        <p:nvSpPr>
          <p:cNvPr id="4" name="Shape 2"/>
          <p:cNvSpPr/>
          <p:nvPr/>
        </p:nvSpPr>
        <p:spPr>
          <a:xfrm>
            <a:off x="566928" y="1783080"/>
            <a:ext cx="3515258" cy="1051560"/>
          </a:xfrm>
          <a:prstGeom prst="roundRect">
            <a:avLst>
              <a:gd name="adj" fmla="val 6957"/>
            </a:avLst>
          </a:prstGeom>
          <a:solidFill>
            <a:srgbClr val="FFFFFF"/>
          </a:solidFill>
          <a:ln w="12700">
            <a:solidFill>
              <a:srgbClr val="FFFFFF"/>
            </a:solidFill>
            <a:prstDash val="solid"/>
          </a:ln>
        </p:spPr>
      </p:sp>
      <p:sp>
        <p:nvSpPr>
          <p:cNvPr id="5" name="Text 3"/>
          <p:cNvSpPr txBox="1"/>
          <p:nvPr/>
        </p:nvSpPr>
        <p:spPr>
          <a:xfrm>
            <a:off x="676656" y="1874520"/>
            <a:ext cx="3295802"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±0.12</a:t>
            </a:r>
            <a:endParaRPr lang="en-US" sz="2600" dirty="0"/>
          </a:p>
        </p:txBody>
      </p:sp>
      <p:sp>
        <p:nvSpPr>
          <p:cNvPr id="6" name="Text 4"/>
          <p:cNvSpPr txBox="1"/>
          <p:nvPr/>
        </p:nvSpPr>
        <p:spPr>
          <a:xfrm>
            <a:off x="67665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per-contrast reproducibility floor, dice</a:t>
            </a:r>
            <a:endParaRPr lang="en-US" sz="1100" dirty="0"/>
          </a:p>
        </p:txBody>
      </p:sp>
      <p:sp>
        <p:nvSpPr>
          <p:cNvPr id="7" name="Shape 5"/>
          <p:cNvSpPr/>
          <p:nvPr/>
        </p:nvSpPr>
        <p:spPr>
          <a:xfrm>
            <a:off x="4338218" y="1783080"/>
            <a:ext cx="3515258" cy="1051560"/>
          </a:xfrm>
          <a:prstGeom prst="roundRect">
            <a:avLst>
              <a:gd name="adj" fmla="val 6957"/>
            </a:avLst>
          </a:prstGeom>
          <a:solidFill>
            <a:srgbClr val="FFFFFF"/>
          </a:solidFill>
          <a:ln w="12700">
            <a:solidFill>
              <a:srgbClr val="FFFFFF"/>
            </a:solidFill>
            <a:prstDash val="solid"/>
          </a:ln>
        </p:spPr>
      </p:sp>
      <p:sp>
        <p:nvSpPr>
          <p:cNvPr id="8" name="Text 6"/>
          <p:cNvSpPr txBox="1"/>
          <p:nvPr/>
        </p:nvSpPr>
        <p:spPr>
          <a:xfrm>
            <a:off x="4447946"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±0.04</a:t>
            </a:r>
            <a:endParaRPr lang="en-US" sz="2600" dirty="0"/>
          </a:p>
        </p:txBody>
      </p:sp>
      <p:sp>
        <p:nvSpPr>
          <p:cNvPr id="9" name="Text 7"/>
          <p:cNvSpPr txBox="1"/>
          <p:nvPr/>
        </p:nvSpPr>
        <p:spPr>
          <a:xfrm>
            <a:off x="444794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project-level floor, dice</a:t>
            </a:r>
            <a:endParaRPr lang="en-US" sz="1100" dirty="0"/>
          </a:p>
        </p:txBody>
      </p:sp>
      <p:sp>
        <p:nvSpPr>
          <p:cNvPr id="10" name="Shape 8"/>
          <p:cNvSpPr/>
          <p:nvPr/>
        </p:nvSpPr>
        <p:spPr>
          <a:xfrm>
            <a:off x="8109509" y="1783080"/>
            <a:ext cx="3515258"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8219237"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r² 0.89–0.96</a:t>
            </a:r>
            <a:endParaRPr lang="en-US" sz="2600" dirty="0"/>
          </a:p>
        </p:txBody>
      </p:sp>
      <p:sp>
        <p:nvSpPr>
          <p:cNvPr id="12" name="Text 10"/>
          <p:cNvSpPr txBox="1"/>
          <p:nvPr/>
        </p:nvSpPr>
        <p:spPr>
          <a:xfrm>
            <a:off x="8219237"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map agreement between identical runs</a:t>
            </a:r>
            <a:endParaRPr lang="en-US" sz="1100" dirty="0"/>
          </a:p>
        </p:txBody>
      </p:sp>
      <p:sp>
        <p:nvSpPr>
          <p:cNvPr id="13" name="Text 11"/>
          <p:cNvSpPr txBox="1"/>
          <p:nvPr/>
        </p:nvSpPr>
        <p:spPr>
          <a:xfrm>
            <a:off x="694944" y="3154680"/>
            <a:ext cx="331012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project</a:t>
            </a:r>
            <a:endParaRPr lang="en-US" sz="1100" dirty="0"/>
          </a:p>
        </p:txBody>
      </p:sp>
      <p:sp>
        <p:nvSpPr>
          <p:cNvPr id="14" name="Text 12"/>
          <p:cNvSpPr txBox="1"/>
          <p:nvPr/>
        </p:nvSpPr>
        <p:spPr>
          <a:xfrm>
            <a:off x="4261104" y="3154680"/>
            <a:ext cx="257860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margin over baseline</a:t>
            </a:r>
            <a:endParaRPr lang="en-US" sz="1100" dirty="0"/>
          </a:p>
        </p:txBody>
      </p:sp>
      <p:sp>
        <p:nvSpPr>
          <p:cNvPr id="15" name="Text 13"/>
          <p:cNvSpPr txBox="1"/>
          <p:nvPr/>
        </p:nvSpPr>
        <p:spPr>
          <a:xfrm>
            <a:off x="7095744" y="3154680"/>
            <a:ext cx="157276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run drift</a:t>
            </a:r>
            <a:endParaRPr lang="en-US" sz="1100" dirty="0"/>
          </a:p>
        </p:txBody>
      </p:sp>
      <p:sp>
        <p:nvSpPr>
          <p:cNvPr id="16" name="Text 14"/>
          <p:cNvSpPr txBox="1"/>
          <p:nvPr/>
        </p:nvSpPr>
        <p:spPr>
          <a:xfrm>
            <a:off x="8924544" y="3154680"/>
            <a:ext cx="2578608" cy="457200"/>
          </a:xfrm>
          <a:prstGeom prst="rect">
            <a:avLst/>
          </a:prstGeom>
          <a:noFill/>
          <a:ln/>
        </p:spPr>
        <p:txBody>
          <a:bodyPr wrap="square" lIns="0" tIns="0" rIns="0" bIns="0" rtlCol="0" anchor="ctr"/>
          <a:lstStyle/>
          <a:p>
            <a:pPr indent="0" marL="0">
              <a:buNone/>
            </a:pPr>
            <a:endParaRPr lang="en-US" sz="1100" dirty="0"/>
          </a:p>
        </p:txBody>
      </p:sp>
      <p:sp>
        <p:nvSpPr>
          <p:cNvPr id="17" name="Shape 15"/>
          <p:cNvSpPr/>
          <p:nvPr/>
        </p:nvSpPr>
        <p:spPr>
          <a:xfrm>
            <a:off x="566928" y="3611880"/>
            <a:ext cx="11057839" cy="457200"/>
          </a:xfrm>
          <a:prstGeom prst="rect">
            <a:avLst/>
          </a:prstGeom>
          <a:solidFill>
            <a:srgbClr val="FFFFFF"/>
          </a:solidFill>
          <a:ln w="12700">
            <a:solidFill>
              <a:srgbClr val="E1E9EF"/>
            </a:solidFill>
            <a:prstDash val="solid"/>
          </a:ln>
        </p:spPr>
      </p:sp>
      <p:sp>
        <p:nvSpPr>
          <p:cNvPr id="18" name="Text 16"/>
          <p:cNvSpPr txBox="1"/>
          <p:nvPr/>
        </p:nvSpPr>
        <p:spPr>
          <a:xfrm>
            <a:off x="694944" y="36118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emotion regulation</a:t>
            </a:r>
            <a:endParaRPr lang="en-US" sz="1350" dirty="0"/>
          </a:p>
        </p:txBody>
      </p:sp>
      <p:sp>
        <p:nvSpPr>
          <p:cNvPr id="19" name="Text 17"/>
          <p:cNvSpPr txBox="1"/>
          <p:nvPr/>
        </p:nvSpPr>
        <p:spPr>
          <a:xfrm>
            <a:off x="4261104" y="36118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+0.284</a:t>
            </a:r>
            <a:endParaRPr lang="en-US" sz="1350" dirty="0"/>
          </a:p>
        </p:txBody>
      </p:sp>
      <p:sp>
        <p:nvSpPr>
          <p:cNvPr id="20" name="Text 18"/>
          <p:cNvSpPr txBox="1"/>
          <p:nvPr/>
        </p:nvSpPr>
        <p:spPr>
          <a:xfrm>
            <a:off x="7095744" y="36118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0.022</a:t>
            </a:r>
            <a:endParaRPr lang="en-US" sz="1350" dirty="0"/>
          </a:p>
        </p:txBody>
      </p:sp>
      <p:sp>
        <p:nvSpPr>
          <p:cNvPr id="21" name="Text 19"/>
          <p:cNvSpPr txBox="1"/>
          <p:nvPr/>
        </p:nvSpPr>
        <p:spPr>
          <a:xfrm>
            <a:off x="8924544" y="36118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2" name="Shape 20"/>
          <p:cNvSpPr/>
          <p:nvPr/>
        </p:nvSpPr>
        <p:spPr>
          <a:xfrm>
            <a:off x="566928" y="4069080"/>
            <a:ext cx="11057839" cy="457200"/>
          </a:xfrm>
          <a:prstGeom prst="rect">
            <a:avLst/>
          </a:prstGeom>
          <a:solidFill>
            <a:srgbClr val="EEF3F7"/>
          </a:solidFill>
          <a:ln w="12700">
            <a:solidFill>
              <a:srgbClr val="E1E9EF"/>
            </a:solidFill>
            <a:prstDash val="solid"/>
          </a:ln>
        </p:spPr>
      </p:sp>
      <p:sp>
        <p:nvSpPr>
          <p:cNvPr id="23" name="Text 21"/>
          <p:cNvSpPr txBox="1"/>
          <p:nvPr/>
        </p:nvSpPr>
        <p:spPr>
          <a:xfrm>
            <a:off x="694944" y="40690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social</a:t>
            </a:r>
            <a:endParaRPr lang="en-US" sz="1350" dirty="0"/>
          </a:p>
        </p:txBody>
      </p:sp>
      <p:sp>
        <p:nvSpPr>
          <p:cNvPr id="24" name="Text 22"/>
          <p:cNvSpPr txBox="1"/>
          <p:nvPr/>
        </p:nvSpPr>
        <p:spPr>
          <a:xfrm>
            <a:off x="4261104" y="40690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+0.115</a:t>
            </a:r>
            <a:endParaRPr lang="en-US" sz="1350" dirty="0"/>
          </a:p>
        </p:txBody>
      </p:sp>
      <p:sp>
        <p:nvSpPr>
          <p:cNvPr id="25" name="Text 23"/>
          <p:cNvSpPr txBox="1"/>
          <p:nvPr/>
        </p:nvSpPr>
        <p:spPr>
          <a:xfrm>
            <a:off x="7095744" y="40690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0.035</a:t>
            </a:r>
            <a:endParaRPr lang="en-US" sz="1350" dirty="0"/>
          </a:p>
        </p:txBody>
      </p:sp>
      <p:sp>
        <p:nvSpPr>
          <p:cNvPr id="26" name="Text 24"/>
          <p:cNvSpPr txBox="1"/>
          <p:nvPr/>
        </p:nvSpPr>
        <p:spPr>
          <a:xfrm>
            <a:off x="8924544" y="40690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7" name="Shape 25"/>
          <p:cNvSpPr/>
          <p:nvPr/>
        </p:nvSpPr>
        <p:spPr>
          <a:xfrm>
            <a:off x="566928" y="4526280"/>
            <a:ext cx="11057839" cy="457200"/>
          </a:xfrm>
          <a:prstGeom prst="rect">
            <a:avLst/>
          </a:prstGeom>
          <a:solidFill>
            <a:srgbClr val="FFFFFF"/>
          </a:solidFill>
          <a:ln w="12700">
            <a:solidFill>
              <a:srgbClr val="E1E9EF"/>
            </a:solidFill>
            <a:prstDash val="solid"/>
          </a:ln>
        </p:spPr>
      </p:sp>
      <p:sp>
        <p:nvSpPr>
          <p:cNvPr id="28" name="Text 26"/>
          <p:cNvSpPr txBox="1"/>
          <p:nvPr/>
        </p:nvSpPr>
        <p:spPr>
          <a:xfrm>
            <a:off x="694944" y="45262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executive function</a:t>
            </a:r>
            <a:endParaRPr lang="en-US" sz="1350" dirty="0"/>
          </a:p>
        </p:txBody>
      </p:sp>
      <p:sp>
        <p:nvSpPr>
          <p:cNvPr id="29" name="Text 27"/>
          <p:cNvSpPr txBox="1"/>
          <p:nvPr/>
        </p:nvSpPr>
        <p:spPr>
          <a:xfrm>
            <a:off x="4261104" y="45262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+0.058</a:t>
            </a:r>
            <a:endParaRPr lang="en-US" sz="1350" dirty="0"/>
          </a:p>
        </p:txBody>
      </p:sp>
      <p:sp>
        <p:nvSpPr>
          <p:cNvPr id="30" name="Text 28"/>
          <p:cNvSpPr txBox="1"/>
          <p:nvPr/>
        </p:nvSpPr>
        <p:spPr>
          <a:xfrm>
            <a:off x="7095744" y="45262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0.042</a:t>
            </a:r>
            <a:endParaRPr lang="en-US" sz="1350" dirty="0"/>
          </a:p>
        </p:txBody>
      </p:sp>
      <p:sp>
        <p:nvSpPr>
          <p:cNvPr id="31" name="Text 29"/>
          <p:cNvSpPr txBox="1"/>
          <p:nvPr/>
        </p:nvSpPr>
        <p:spPr>
          <a:xfrm>
            <a:off x="8924544" y="4526280"/>
            <a:ext cx="2578608" cy="457200"/>
          </a:xfrm>
          <a:prstGeom prst="rect">
            <a:avLst/>
          </a:prstGeom>
          <a:noFill/>
          <a:ln/>
        </p:spPr>
        <p:txBody>
          <a:bodyPr wrap="square" lIns="0" tIns="0" rIns="0" bIns="0" rtlCol="0" anchor="ctr"/>
          <a:lstStyle/>
          <a:p>
            <a:pPr indent="0" marL="0">
              <a:buNone/>
            </a:pPr>
            <a:r>
              <a:rPr lang="en-US" sz="1350" b="1" dirty="0">
                <a:solidFill>
                  <a:srgbClr val="E69F00"/>
                </a:solidFill>
                <a:latin typeface="Calibri" pitchFamily="34" charset="0"/>
                <a:ea typeface="Calibri" pitchFamily="34" charset="-122"/>
                <a:cs typeface="Calibri" pitchFamily="34" charset="-120"/>
              </a:rPr>
              <a:t>margin ≈ drift</a:t>
            </a:r>
            <a:endParaRPr lang="en-US" sz="1350" dirty="0"/>
          </a:p>
        </p:txBody>
      </p:sp>
      <p:sp>
        <p:nvSpPr>
          <p:cNvPr id="32" name="Text 30"/>
          <p:cNvSpPr txBox="1"/>
          <p:nvPr/>
        </p:nvSpPr>
        <p:spPr>
          <a:xfrm>
            <a:off x="566928" y="5285232"/>
            <a:ext cx="11057839" cy="658368"/>
          </a:xfrm>
          <a:prstGeom prst="rect">
            <a:avLst/>
          </a:prstGeom>
          <a:noFill/>
          <a:ln/>
        </p:spPr>
        <p:txBody>
          <a:bodyPr wrap="square" lIns="0" tIns="0" rIns="0" bIns="0" rtlCol="0" anchor="t"/>
          <a:lstStyle/>
          <a:p>
            <a:pPr indent="0" marL="0">
              <a:buNone/>
            </a:pPr>
            <a:r>
              <a:rPr lang="en-US" sz="1300" dirty="0">
                <a:solidFill>
                  <a:srgbClr val="0F2A3F"/>
                </a:solidFill>
                <a:latin typeface="Calibri" pitchFamily="34" charset="0"/>
                <a:ea typeface="Calibri" pitchFamily="34" charset="-122"/>
                <a:cs typeface="Calibri" pitchFamily="34" charset="-120"/>
              </a:rPr>
              <a:t>Three of the 32 reported margins sit inside the noise band on a single run — decision making (+0.001), dementia (+0.005) and executive function (+0.031). That has to be said in the paper.</a:t>
            </a:r>
            <a:endParaRPr lang="en-US" sz="1300" dirty="0"/>
          </a:p>
        </p:txBody>
      </p:sp>
      <p:sp>
        <p:nvSpPr>
          <p:cNvPr id="33" name="Text 31"/>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r² is stable across re-runs while dice is not — one re-run pushed a whole map below threshold. Three independent lines of evidence now favour r² as the primary metric.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Cost is not the obstacle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Measured from per-stage token accounting, not estimated.</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~$51</a:t>
            </a:r>
            <a:pPr indent="0" marL="0">
              <a:buNone/>
            </a:pPr>
            <a:r>
              <a:rPr lang="en-US" sz="1400" dirty="0">
                <a:solidFill>
                  <a:srgbClr val="0F2A3F"/>
                </a:solidFill>
                <a:latin typeface="Calibri" pitchFamily="34" charset="0"/>
                <a:ea typeface="Calibri" pitchFamily="34" charset="-122"/>
                <a:cs typeface="Calibri" pitchFamily="34" charset="-120"/>
              </a:rPr>
              <a:t> for three full projects end to end;  </a:t>
            </a:r>
            <a:pPr indent="0" marL="0">
              <a:buNone/>
            </a:pPr>
            <a:r>
              <a:rPr lang="en-US" sz="1400" b="1" dirty="0">
                <a:solidFill>
                  <a:srgbClr val="0A3D5C"/>
                </a:solidFill>
                <a:latin typeface="Calibri" pitchFamily="34" charset="0"/>
                <a:ea typeface="Calibri" pitchFamily="34" charset="-122"/>
                <a:cs typeface="Calibri" pitchFamily="34" charset="-120"/>
              </a:rPr>
              <a:t>$0.0023</a:t>
            </a:r>
            <a:pPr indent="0" marL="0">
              <a:buNone/>
            </a:pPr>
            <a:r>
              <a:rPr lang="en-US" sz="1400" dirty="0">
                <a:solidFill>
                  <a:srgbClr val="0F2A3F"/>
                </a:solidFill>
                <a:latin typeface="Calibri" pitchFamily="34" charset="0"/>
                <a:ea typeface="Calibri" pitchFamily="34" charset="-122"/>
                <a:cs typeface="Calibri" pitchFamily="34" charset="-120"/>
              </a:rPr>
              <a:t> per abstract screened, 88% of it output tokens.  The pre-hoc estimate was </a:t>
            </a:r>
            <a:pPr indent="0" marL="0">
              <a:buNone/>
            </a:pPr>
            <a:r>
              <a:rPr lang="en-US" sz="1400" b="1" dirty="0">
                <a:solidFill>
                  <a:srgbClr val="0A3D5C"/>
                </a:solidFill>
                <a:latin typeface="Calibri" pitchFamily="34" charset="0"/>
                <a:ea typeface="Calibri" pitchFamily="34" charset="-122"/>
                <a:cs typeface="Calibri" pitchFamily="34" charset="-120"/>
              </a:rPr>
              <a:t>1.8× under</a:t>
            </a:r>
            <a:pPr indent="0" marL="0">
              <a:buNone/>
            </a:pPr>
            <a:r>
              <a:rPr lang="en-US" sz="1400" dirty="0">
                <a:solidFill>
                  <a:srgbClr val="0F2A3F"/>
                </a:solidFill>
                <a:latin typeface="Calibri" pitchFamily="34" charset="0"/>
                <a:ea typeface="Calibri" pitchFamily="34" charset="-122"/>
                <a:cs typeface="Calibri" pitchFamily="34" charset="-120"/>
              </a:rPr>
              <a:t> — which is why the accounting exists.</a:t>
            </a:r>
            <a:endParaRPr lang="en-US" sz="1400" dirty="0"/>
          </a:p>
        </p:txBody>
      </p:sp>
      <p:pic>
        <p:nvPicPr>
          <p:cNvPr id="5" name="Image 0" descr="/home/zorro/repos/autonima-results/reports/deck_figures/figureS1_measured_cost.png">    </p:cNvPr>
          <p:cNvPicPr>
            <a:picLocks noChangeAspect="1"/>
          </p:cNvPicPr>
          <p:nvPr/>
        </p:nvPicPr>
        <p:blipFill>
          <a:blip r:embed="rId1"/>
          <a:stretch>
            <a:fillRect/>
          </a:stretch>
        </p:blipFill>
        <p:spPr>
          <a:xfrm>
            <a:off x="1485877" y="2011680"/>
            <a:ext cx="9219940" cy="374904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Tens of dollars and hours against months of person time — which for a methods audience is the point, not an aside.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is still open</a:t>
            </a:r>
            <a:endParaRPr lang="en-US" sz="3100" dirty="0"/>
          </a:p>
        </p:txBody>
      </p:sp>
      <p:sp>
        <p:nvSpPr>
          <p:cNvPr id="3" name="Shape 1"/>
          <p:cNvSpPr/>
          <p:nvPr/>
        </p:nvSpPr>
        <p:spPr>
          <a:xfrm>
            <a:off x="566928" y="1664208"/>
            <a:ext cx="2148840" cy="512064"/>
          </a:xfrm>
          <a:prstGeom prst="roundRect">
            <a:avLst>
              <a:gd name="adj" fmla="val 14286"/>
            </a:avLst>
          </a:prstGeom>
          <a:solidFill>
            <a:srgbClr val="E69F00"/>
          </a:solidFill>
          <a:ln w="12700">
            <a:solidFill>
              <a:srgbClr val="E69F00"/>
            </a:solidFill>
            <a:prstDash val="solid"/>
          </a:ln>
        </p:spPr>
      </p:sp>
      <p:sp>
        <p:nvSpPr>
          <p:cNvPr id="4" name="Text 2"/>
          <p:cNvSpPr txBox="1"/>
          <p:nvPr/>
        </p:nvSpPr>
        <p:spPr>
          <a:xfrm>
            <a:off x="566928" y="16642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Gates submission</a:t>
            </a:r>
            <a:endParaRPr lang="en-US" sz="1150" dirty="0"/>
          </a:p>
        </p:txBody>
      </p:sp>
      <p:sp>
        <p:nvSpPr>
          <p:cNvPr id="5" name="Text 3"/>
          <p:cNvSpPr txBox="1"/>
          <p:nvPr/>
        </p:nvSpPr>
        <p:spPr>
          <a:xfrm>
            <a:off x="3108960" y="16093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A forward-looking case where the answer is not already published — the difference between demonstrating reproduction and demonstrating discovery.</a:t>
            </a:r>
            <a:endParaRPr lang="en-US" sz="1300" dirty="0"/>
          </a:p>
        </p:txBody>
      </p:sp>
      <p:sp>
        <p:nvSpPr>
          <p:cNvPr id="6" name="Shape 4"/>
          <p:cNvSpPr/>
          <p:nvPr/>
        </p:nvSpPr>
        <p:spPr>
          <a:xfrm>
            <a:off x="566928" y="2578608"/>
            <a:ext cx="2148840" cy="512064"/>
          </a:xfrm>
          <a:prstGeom prst="roundRect">
            <a:avLst>
              <a:gd name="adj" fmla="val 14286"/>
            </a:avLst>
          </a:prstGeom>
          <a:solidFill>
            <a:srgbClr val="1C7293"/>
          </a:solidFill>
          <a:ln w="12700">
            <a:solidFill>
              <a:srgbClr val="1C7293"/>
            </a:solidFill>
            <a:prstDash val="solid"/>
          </a:ln>
        </p:spPr>
      </p:sp>
      <p:sp>
        <p:nvSpPr>
          <p:cNvPr id="7" name="Text 5"/>
          <p:cNvSpPr txBox="1"/>
          <p:nvPr/>
        </p:nvSpPr>
        <p:spPr>
          <a:xfrm>
            <a:off x="566928" y="25786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computing</a:t>
            </a:r>
            <a:endParaRPr lang="en-US" sz="1150" dirty="0"/>
          </a:p>
        </p:txBody>
      </p:sp>
      <p:sp>
        <p:nvSpPr>
          <p:cNvPr id="8" name="Text 6"/>
          <p:cNvSpPr txBox="1"/>
          <p:nvPr/>
        </p:nvSpPr>
        <p:spPr>
          <a:xfrm>
            <a:off x="3108960" y="25237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Margin over baseline by tier, not just absolute R². The baselines don't move with tier so it should track, but that is load-bearing enough to measure.</a:t>
            </a:r>
            <a:endParaRPr lang="en-US" sz="1300" dirty="0"/>
          </a:p>
        </p:txBody>
      </p:sp>
      <p:sp>
        <p:nvSpPr>
          <p:cNvPr id="9" name="Shape 7"/>
          <p:cNvSpPr/>
          <p:nvPr/>
        </p:nvSpPr>
        <p:spPr>
          <a:xfrm>
            <a:off x="566928" y="3493008"/>
            <a:ext cx="2148840" cy="512064"/>
          </a:xfrm>
          <a:prstGeom prst="roundRect">
            <a:avLst>
              <a:gd name="adj" fmla="val 14286"/>
            </a:avLst>
          </a:prstGeom>
          <a:solidFill>
            <a:srgbClr val="1C7293"/>
          </a:solidFill>
          <a:ln w="12700">
            <a:solidFill>
              <a:srgbClr val="1C7293"/>
            </a:solidFill>
            <a:prstDash val="solid"/>
          </a:ln>
        </p:spPr>
      </p:sp>
      <p:sp>
        <p:nvSpPr>
          <p:cNvPr id="10" name="Text 8"/>
          <p:cNvSpPr txBox="1"/>
          <p:nvPr/>
        </p:nvSpPr>
        <p:spPr>
          <a:xfrm>
            <a:off x="566928" y="34930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a DOI</a:t>
            </a:r>
            <a:endParaRPr lang="en-US" sz="1150" dirty="0"/>
          </a:p>
        </p:txBody>
      </p:sp>
      <p:sp>
        <p:nvSpPr>
          <p:cNvPr id="11" name="Text 9"/>
          <p:cNvSpPr txBox="1"/>
          <p:nvPr/>
        </p:nvSpPr>
        <p:spPr>
          <a:xfrm>
            <a:off x="3108960" y="34381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neurometabench must be citable before submission. "In a paper we haven't submitted" is not an answer to "where is this benchmark".</a:t>
            </a:r>
            <a:endParaRPr lang="en-US" sz="1300" dirty="0"/>
          </a:p>
        </p:txBody>
      </p:sp>
      <p:sp>
        <p:nvSpPr>
          <p:cNvPr id="12" name="Shape 10"/>
          <p:cNvSpPr/>
          <p:nvPr/>
        </p:nvSpPr>
        <p:spPr>
          <a:xfrm>
            <a:off x="566928" y="4407408"/>
            <a:ext cx="2148840" cy="512064"/>
          </a:xfrm>
          <a:prstGeom prst="roundRect">
            <a:avLst>
              <a:gd name="adj" fmla="val 14286"/>
            </a:avLst>
          </a:prstGeom>
          <a:solidFill>
            <a:srgbClr val="1C7293"/>
          </a:solidFill>
          <a:ln w="12700">
            <a:solidFill>
              <a:srgbClr val="1C7293"/>
            </a:solidFill>
            <a:prstDash val="solid"/>
          </a:ln>
        </p:spPr>
      </p:sp>
      <p:sp>
        <p:nvSpPr>
          <p:cNvPr id="13" name="Text 11"/>
          <p:cNvSpPr txBox="1"/>
          <p:nvPr/>
        </p:nvSpPr>
        <p:spPr>
          <a:xfrm>
            <a:off x="566928" y="44074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Worth doing</a:t>
            </a:r>
            <a:endParaRPr lang="en-US" sz="1150" dirty="0"/>
          </a:p>
        </p:txBody>
      </p:sp>
      <p:sp>
        <p:nvSpPr>
          <p:cNvPr id="14" name="Text 12"/>
          <p:cNvSpPr txBox="1"/>
          <p:nvPr/>
        </p:nvSpPr>
        <p:spPr>
          <a:xfrm>
            <a:off x="3108960" y="43525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Failure-mode taxonomy in the main text — separating supply failures from judgement failures. A methods audience adopts on the basis of how a tool fails.</a:t>
            </a:r>
            <a:endParaRPr lang="en-US" sz="1300" dirty="0"/>
          </a:p>
        </p:txBody>
      </p:sp>
      <p:sp>
        <p:nvSpPr>
          <p:cNvPr id="15" name="Shape 13"/>
          <p:cNvSpPr/>
          <p:nvPr/>
        </p:nvSpPr>
        <p:spPr>
          <a:xfrm>
            <a:off x="566928" y="5321808"/>
            <a:ext cx="2148840" cy="512064"/>
          </a:xfrm>
          <a:prstGeom prst="roundRect">
            <a:avLst>
              <a:gd name="adj" fmla="val 14286"/>
            </a:avLst>
          </a:prstGeom>
          <a:solidFill>
            <a:srgbClr val="1C7293"/>
          </a:solidFill>
          <a:ln w="12700">
            <a:solidFill>
              <a:srgbClr val="1C7293"/>
            </a:solidFill>
            <a:prstDash val="solid"/>
          </a:ln>
        </p:spPr>
      </p:sp>
      <p:sp>
        <p:nvSpPr>
          <p:cNvPr id="16" name="Text 14"/>
          <p:cNvSpPr txBox="1"/>
          <p:nvPr/>
        </p:nvSpPr>
        <p:spPr>
          <a:xfrm>
            <a:off x="566928" y="53218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Benchmark quality</a:t>
            </a:r>
            <a:endParaRPr lang="en-US" sz="1150" dirty="0"/>
          </a:p>
        </p:txBody>
      </p:sp>
      <p:sp>
        <p:nvSpPr>
          <p:cNvPr id="17" name="Text 15"/>
          <p:cNvSpPr txBox="1"/>
          <p:nvPr/>
        </p:nvSpPr>
        <p:spPr>
          <a:xfrm>
            <a:off x="3108960" y="52669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Two substance-use contrasts disagree with the source paper's own foci counts (153 vs 37, 109 vs 236). That is an extraction audit for the data paper.</a:t>
            </a:r>
            <a:endParaRPr lang="en-US" sz="1300" dirty="0"/>
          </a:p>
        </p:txBody>
      </p:sp>
      <p:sp>
        <p:nvSpPr>
          <p:cNvPr id="18" name="Text 1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Everything above is tracked in NATURE_METHODS_SKELETON.md and PAPER_OUTLINE.md, with the reasoning attached.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45720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leaves us</a:t>
            </a:r>
            <a:endParaRPr lang="en-US" sz="3400" dirty="0"/>
          </a:p>
        </p:txBody>
      </p:sp>
      <p:sp>
        <p:nvSpPr>
          <p:cNvPr id="3" name="Shape 1"/>
          <p:cNvSpPr/>
          <p:nvPr/>
        </p:nvSpPr>
        <p:spPr>
          <a:xfrm>
            <a:off x="566928" y="1719072"/>
            <a:ext cx="384048" cy="384048"/>
          </a:xfrm>
          <a:prstGeom prst="roundRect">
            <a:avLst>
              <a:gd name="adj" fmla="val 16667"/>
            </a:avLst>
          </a:prstGeom>
          <a:solidFill>
            <a:srgbClr val="E69F00"/>
          </a:solidFill>
          <a:ln w="12700">
            <a:solidFill>
              <a:srgbClr val="E69F00"/>
            </a:solidFill>
            <a:prstDash val="solid"/>
          </a:ln>
        </p:spPr>
      </p:sp>
      <p:sp>
        <p:nvSpPr>
          <p:cNvPr id="4" name="Text 2"/>
          <p:cNvSpPr txBox="1"/>
          <p:nvPr/>
        </p:nvSpPr>
        <p:spPr>
          <a:xfrm>
            <a:off x="566928" y="1719072"/>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133856" y="1645920"/>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Selection below the paper is measurable, and it matters.</a:t>
            </a:r>
            <a:endParaRPr lang="en-US" sz="1500" dirty="0"/>
          </a:p>
        </p:txBody>
      </p:sp>
      <p:sp>
        <p:nvSpPr>
          <p:cNvPr id="6" name="Text 4"/>
          <p:cNvSpPr txBox="1"/>
          <p:nvPr/>
        </p:nvSpPr>
        <p:spPr>
          <a:xfrm>
            <a:off x="1133856" y="1993392"/>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+0.211 median R² over a size-matched random draw of the same analyses; 29 of 32 contrasts beat their own null.</a:t>
            </a:r>
            <a:endParaRPr lang="en-US" sz="1200" dirty="0"/>
          </a:p>
        </p:txBody>
      </p:sp>
      <p:sp>
        <p:nvSpPr>
          <p:cNvPr id="7" name="Shape 5"/>
          <p:cNvSpPr/>
          <p:nvPr/>
        </p:nvSpPr>
        <p:spPr>
          <a:xfrm>
            <a:off x="566928" y="2798064"/>
            <a:ext cx="384048" cy="384048"/>
          </a:xfrm>
          <a:prstGeom prst="roundRect">
            <a:avLst>
              <a:gd name="adj" fmla="val 16667"/>
            </a:avLst>
          </a:prstGeom>
          <a:solidFill>
            <a:srgbClr val="E69F00"/>
          </a:solidFill>
          <a:ln w="12700">
            <a:solidFill>
              <a:srgbClr val="E69F00"/>
            </a:solidFill>
            <a:prstDash val="solid"/>
          </a:ln>
        </p:spPr>
      </p:sp>
      <p:sp>
        <p:nvSpPr>
          <p:cNvPr id="8" name="Text 6"/>
          <p:cNvSpPr txBox="1"/>
          <p:nvPr/>
        </p:nvSpPr>
        <p:spPr>
          <a:xfrm>
            <a:off x="566928" y="2798064"/>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133856" y="2724912"/>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beats the strongest baseline we could build.</a:t>
            </a:r>
            <a:endParaRPr lang="en-US" sz="1500" dirty="0"/>
          </a:p>
        </p:txBody>
      </p:sp>
      <p:sp>
        <p:nvSpPr>
          <p:cNvPr id="10" name="Text 8"/>
          <p:cNvSpPr txBox="1"/>
          <p:nvPr/>
        </p:nvSpPr>
        <p:spPr>
          <a:xfrm>
            <a:off x="1133856" y="3072384"/>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+0.099 mean ΔR², ahead in 28 of 32, and usually while pooling fewer analyses.</a:t>
            </a:r>
            <a:endParaRPr lang="en-US" sz="1200" dirty="0"/>
          </a:p>
        </p:txBody>
      </p:sp>
      <p:sp>
        <p:nvSpPr>
          <p:cNvPr id="11" name="Shape 9"/>
          <p:cNvSpPr/>
          <p:nvPr/>
        </p:nvSpPr>
        <p:spPr>
          <a:xfrm>
            <a:off x="566928" y="3877056"/>
            <a:ext cx="384048" cy="384048"/>
          </a:xfrm>
          <a:prstGeom prst="roundRect">
            <a:avLst>
              <a:gd name="adj" fmla="val 16667"/>
            </a:avLst>
          </a:prstGeom>
          <a:solidFill>
            <a:srgbClr val="E69F00"/>
          </a:solidFill>
          <a:ln w="12700">
            <a:solidFill>
              <a:srgbClr val="E69F00"/>
            </a:solidFill>
            <a:prstDash val="solid"/>
          </a:ln>
        </p:spPr>
      </p:sp>
      <p:sp>
        <p:nvSpPr>
          <p:cNvPr id="12" name="Text 10"/>
          <p:cNvSpPr txBox="1"/>
          <p:nvPr/>
        </p:nvSpPr>
        <p:spPr>
          <a:xfrm>
            <a:off x="566928" y="3877056"/>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3</a:t>
            </a:r>
            <a:endParaRPr lang="en-US" sz="1300" dirty="0"/>
          </a:p>
        </p:txBody>
      </p:sp>
      <p:sp>
        <p:nvSpPr>
          <p:cNvPr id="13" name="Text 11"/>
          <p:cNvSpPr txBox="1"/>
          <p:nvPr/>
        </p:nvSpPr>
        <p:spPr>
          <a:xfrm>
            <a:off x="1133856" y="3803904"/>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Asking a model for the map is not a substitute.</a:t>
            </a:r>
            <a:endParaRPr lang="en-US" sz="1500" dirty="0"/>
          </a:p>
        </p:txBody>
      </p:sp>
      <p:sp>
        <p:nvSpPr>
          <p:cNvPr id="14" name="Text 12"/>
          <p:cNvSpPr txBox="1"/>
          <p:nvPr/>
        </p:nvSpPr>
        <p:spPr>
          <a:xfrm>
            <a:off x="1133856" y="4151376"/>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Both text→map models collapse on condition contrasts. A term is not an analysis.</a:t>
            </a:r>
            <a:endParaRPr lang="en-US" sz="1200" dirty="0"/>
          </a:p>
        </p:txBody>
      </p:sp>
      <p:sp>
        <p:nvSpPr>
          <p:cNvPr id="15" name="Shape 13"/>
          <p:cNvSpPr/>
          <p:nvPr/>
        </p:nvSpPr>
        <p:spPr>
          <a:xfrm>
            <a:off x="566928" y="4956048"/>
            <a:ext cx="384048" cy="384048"/>
          </a:xfrm>
          <a:prstGeom prst="roundRect">
            <a:avLst>
              <a:gd name="adj" fmla="val 16667"/>
            </a:avLst>
          </a:prstGeom>
          <a:solidFill>
            <a:srgbClr val="E69F00"/>
          </a:solidFill>
          <a:ln w="12700">
            <a:solidFill>
              <a:srgbClr val="E69F00"/>
            </a:solidFill>
            <a:prstDash val="solid"/>
          </a:ln>
        </p:spPr>
      </p:sp>
      <p:sp>
        <p:nvSpPr>
          <p:cNvPr id="16" name="Text 14"/>
          <p:cNvSpPr txBox="1"/>
          <p:nvPr/>
        </p:nvSpPr>
        <p:spPr>
          <a:xfrm>
            <a:off x="566928" y="4956048"/>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4</a:t>
            </a:r>
            <a:endParaRPr lang="en-US" sz="1300" dirty="0"/>
          </a:p>
        </p:txBody>
      </p:sp>
      <p:sp>
        <p:nvSpPr>
          <p:cNvPr id="17" name="Text 15"/>
          <p:cNvSpPr txBox="1"/>
          <p:nvPr/>
        </p:nvSpPr>
        <p:spPr>
          <a:xfrm>
            <a:off x="1133856" y="4882896"/>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dangerous failure is mis-specified criteria.</a:t>
            </a:r>
            <a:endParaRPr lang="en-US" sz="1500" dirty="0"/>
          </a:p>
        </p:txBody>
      </p:sp>
      <p:sp>
        <p:nvSpPr>
          <p:cNvPr id="18" name="Text 16"/>
          <p:cNvSpPr txBox="1"/>
          <p:nvPr/>
        </p:nvSpPr>
        <p:spPr>
          <a:xfrm>
            <a:off x="1133856" y="5230368"/>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Worth roughly seven times the tuning effect — and nothing in the output announces it.</a:t>
            </a:r>
            <a:endParaRPr lang="en-US" sz="1200" dirty="0"/>
          </a:p>
        </p:txBody>
      </p:sp>
      <p:sp>
        <p:nvSpPr>
          <p:cNvPr id="19" name="Text 17"/>
          <p:cNvSpPr txBox="1"/>
          <p:nvPr/>
        </p:nvSpPr>
        <p:spPr>
          <a:xfrm>
            <a:off x="566928" y="6080760"/>
            <a:ext cx="10515600" cy="365760"/>
          </a:xfrm>
          <a:prstGeom prst="rect">
            <a:avLst/>
          </a:prstGeom>
          <a:noFill/>
          <a:ln/>
        </p:spPr>
        <p:txBody>
          <a:bodyPr wrap="square" lIns="0" tIns="0" rIns="0" bIns="0" rtlCol="0" anchor="ctr"/>
          <a:lstStyle/>
          <a:p>
            <a:pPr indent="0" marL="0">
              <a:buNone/>
            </a:pPr>
            <a:r>
              <a:rPr lang="en-US" sz="1250" i="1" dirty="0">
                <a:solidFill>
                  <a:srgbClr val="E69F00"/>
                </a:solidFill>
                <a:latin typeface="Calibri" pitchFamily="34" charset="0"/>
                <a:ea typeface="Calibri" pitchFamily="34" charset="-122"/>
                <a:cs typeface="Calibri" pitchFamily="34" charset="-120"/>
              </a:rPr>
              <a:t>Target: Nature Methods, with neurometabench as a companion data paper.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autonima validation results</dc:title>
  <dc:subject>PptxGenJS Presentation</dc:subject>
  <dc:creator>Alejandro de la Vega</dc:creator>
  <cp:lastModifiedBy>Alejandro de la Vega</cp:lastModifiedBy>
  <cp:revision>1</cp:revision>
  <dcterms:created xsi:type="dcterms:W3CDTF">2026-09-10T00:43:22Z</dcterms:created>
  <dcterms:modified xsi:type="dcterms:W3CDTF">2026-09-10T00:43:22Z</dcterms:modified>
</cp:coreProperties>
</file>