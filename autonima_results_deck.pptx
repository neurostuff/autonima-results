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validation study, not a tool demo. The headline is the margin over a strong baseline, measured on 32 contrasts from 9 published meta-analyses.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Figure 1 is the schematic (pipeline stages, and the paper-vs-analysis distinction). Drop it 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of evaluation is a contrast (a benchmark column), not a paper and not 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exceptions worth naming: executive function (74-&gt;39%) and problem solving (88-&gt;58%) lose most of their gold at retrieval and full-text screening, not at the abstract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29% of the precision achievable at full-text screening is a corpus difference rather than a screening failure. Don't quote 0.35 as the pipeline's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Parsing is close to solved; annotation is the harder and more interesting half, and it is what the next slides isolate.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is deliberately strong: it retrieves a median 37% of the experts' own studies, so it is not a straw 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decrease contrast is deliberately excluded: its expert map correlates r = 0.972 with reappraisal's, because the benchmark's Decrease file holds the reappraisal union. Showing both would present one expert map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an earlier comparison against all-analyses, which confounded choosing analyses with using fewer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to say out loud: R2 rewards sharing the expert map's sparse non-negative form. Ranked (top-k dice) NeuroVLM leads NeuroQuery only 1.2x rather than 3.2x, and both still trail the search baseline. Not like-for-like either -- these answer a much cheaper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reframes the leakage objection into a finding about the danger of LLM screening: mis-specification is roughly seven times the size of the tuning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experiments/e2e_retest/. Only the full-text screening rate is a clean per-stage measurement; parsing and annotation ran on already-drifted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estimate missed because full texts in these projects are far longer than the corpus median it extrapolated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scope decision recorded with its reasoning, not an omission. Say them before a reviewer finds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item is the gate. The rest are finishable.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forward-looking case: it is the gate for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00200"/>
            <a:ext cx="8595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 LLM pipeline reproduce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published meta-analysis?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657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autonima — validation against 9 published neuroimaging meta-analyses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605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benchmark contrasts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de la Vega  ·  9 September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0" y="173736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0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+0.099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2697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 over the best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search-only baseline</a:t>
            </a:r>
            <a:endParaRPr lang="en-US" sz="10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of 32 contrasts)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unit lives below the paper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4592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meta-analysis pools contrasts, not papers. One paper contributes several — often only one of which is relevant.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at the paper level is therefore not enough: you must also choose among the analyses inside each paper.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selection step is what no existing automated tool performs, and what this pipeline is built to 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field measures it, because the reference results are locked in PDFs.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617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claim the whole evaluation is organised around.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645920"/>
            <a:ext cx="5358384" cy="3840480"/>
          </a:xfrm>
          <a:prstGeom prst="roundRect">
            <a:avLst>
              <a:gd name="adj" fmla="val 1429"/>
            </a:avLst>
          </a:prstGeom>
          <a:solidFill>
            <a:srgbClr val="F7FAFC"/>
          </a:solidFill>
          <a:ln w="22225">
            <a:solidFill>
              <a:srgbClr val="1C729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263640" y="3017520"/>
            <a:ext cx="5358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FIGURE 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3474720"/>
            <a:ext cx="5358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analysis-unit schematic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 be added —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and the benchmark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LLM stages end to end, scored against the published result of each meta-analysis.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query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1755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screen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criteria from the paper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36992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650224" y="1755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50224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via pubget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926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44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tables → analyses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2926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5196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65192" y="2944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965192" y="3227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analyses to contrasts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36992" y="29260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36992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650224" y="2944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650224" y="3227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MKDA → brain map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315968"/>
            <a:ext cx="2572436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" y="4407408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" y="4864608"/>
            <a:ext cx="23529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meta-analyses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95396" y="4315968"/>
            <a:ext cx="2572436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05124" y="4407408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3505124" y="4864608"/>
            <a:ext cx="23529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contrasts scored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23864" y="4315968"/>
            <a:ext cx="2572436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33592" y="4407408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6333592" y="4864608"/>
            <a:ext cx="23529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per contrast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 / search baseline / expert)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52331" y="4315968"/>
            <a:ext cx="2572436" cy="1143000"/>
          </a:xfrm>
          <a:prstGeom prst="roundRect">
            <a:avLst>
              <a:gd name="adj" fmla="val 64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62059" y="4407408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MKDA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9162059" y="4864608"/>
            <a:ext cx="23529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estimator throughout,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comparability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contrast is scored as a brain-map similarity against the published meta-analytic map for that contrast.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raises precision at little cost to recall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gold-standard studies survive to the end of the funnel; abstract screening costs a median 1.4 points of them. Mean precision rises 0.10 → 0.32.</a:t>
            </a:r>
            <a:endParaRPr lang="en-US" sz="1500" dirty="0"/>
          </a:p>
        </p:txBody>
      </p:sp>
      <p:pic>
        <p:nvPicPr>
          <p:cNvPr id="4" name="Image 0" descr="/home/zorro/repos/autonima-results/reports/nature_methods_figures/figure2_gold_retention_and_pr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452" y="1627632"/>
            <a:ext cx="9244792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search-driven pool; dotted = fixed pool; black = mean across projects. Retrieval is shown as its own stage — losing a full text is a supply problem, not a judgement.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 of the 'low' precision is a pool mismatch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PubMed query returns a different corpus than the published review's, so studies that could never have been included count as false positives.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+0.142 precision</a:t>
            </a:r>
            <a:pPr indent="0" marL="0"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attributable to the pool alone at full-text screening (0.349 → 0.491), and it costs </a:t>
            </a:r>
            <a:pPr indent="0" marL="0">
              <a:buNone/>
            </a:pPr>
            <a:r>
              <a:rPr lang="en-US" sz="1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recall</a:t>
            </a:r>
            <a:pPr indent="0" marL="0"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(+0.007).</a:t>
            </a:r>
            <a:endParaRPr lang="en-US" sz="1400" dirty="0"/>
          </a:p>
        </p:txBody>
      </p:sp>
      <p:pic>
        <p:nvPicPr>
          <p:cNvPr id="5" name="Image 0" descr="/home/zorro/repos/autonima-results/reports/nature_methods_figures/figureS3_pool_mis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16" y="1993392"/>
            <a:ext cx="8205063" cy="3794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projects have a fixed-pool arm. Panel b is the control: a precision gain bought by discarding borderline true positives would show up as a recall loss, and does not.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the analyses, then selecting among them</a:t>
            </a:r>
            <a:endParaRPr lang="en-US" sz="3100" dirty="0"/>
          </a:p>
        </p:txBody>
      </p:sp>
      <p:pic>
        <p:nvPicPr>
          <p:cNvPr id="3" name="Image 0" descr="/home/zorro/repos/autonima-results/reports/nature_methods_figures/figure3_recover_and_select_analy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091196"/>
            <a:ext cx="7452360" cy="308708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1627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130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experts' analyses recovered by parsing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4963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63–100% across projects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72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520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by a table-only baseline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886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tables taken as parsed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407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0.668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910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annotation F1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276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analyses to the right contrast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that both live below the paper: reconstruct the analyses at all, then decide which belong to the contrast.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beats the strongest available baseline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0A3D5C"/>
          </a:solidFill>
          <a:ln w="12700">
            <a:solidFill>
              <a:srgbClr val="0A3D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8745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+0.099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04088" y="26974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ΔR² vs the best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baseline per contrast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20624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in 28 of 32 contrasts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[+0.038, +0.181], bootstrapped over projects — not contrasts, which share a corpus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test P = 1.9 × 10⁻⁵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while pooling fewer analyses in 23 of 30 — circle area is analyses pooled</a:t>
            </a:r>
            <a:endParaRPr lang="en-US" sz="1200" dirty="0"/>
          </a:p>
        </p:txBody>
      </p:sp>
      <p:pic>
        <p:nvPicPr>
          <p:cNvPr id="7" name="Image 0" descr="/home/zorro/repos/autonima-results/reports/nature_methods_figures/figure4_pipeline_vs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783851"/>
            <a:ext cx="7635240" cy="37474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 contrast is the stronger of a targeted search and the project-wide pool, so the comparison is against the best a competent practitioner could assemble.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looks like on a brain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regulation: three contrasts, expert above and pipeline below, against the one search-only map that cannot tell them apart.</a:t>
            </a:r>
            <a:endParaRPr lang="en-US" sz="1500" dirty="0"/>
          </a:p>
        </p:txBody>
      </p:sp>
      <p:pic>
        <p:nvPicPr>
          <p:cNvPr id="4" name="Image 0" descr="/home/zorro/repos/autonima-results/reports/nature_methods_figures/figure_er_surface_contra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704" y="1600200"/>
            <a:ext cx="9202287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4864608"/>
            <a:ext cx="3515258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4956048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 / 0.11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5413248"/>
            <a:ext cx="32958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— dice, pipeline vs baseline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38218" y="4864608"/>
            <a:ext cx="3515258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946" y="4956048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 / 0.20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447946" y="5413248"/>
            <a:ext cx="32958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— dice, pipeline vs 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09509" y="4864608"/>
            <a:ext cx="3515258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19237" y="4956048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 / 0.44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19237" y="5413248"/>
            <a:ext cx="32958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Reappraisal — dice, pipeline vs baseline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at the FDR q ≤ 0.05 boundary (z &gt; 1.96) — the same threshold the panels are rendered at, so the number describes the picture. Cortical surface, so subcortex is not shown.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gain is analysis selection, not paper selection</a:t>
            </a:r>
            <a:endParaRPr lang="en-US" sz="3100" dirty="0"/>
          </a:p>
        </p:txBody>
      </p:sp>
      <p:pic>
        <p:nvPicPr>
          <p:cNvPr id="3" name="Image 0" descr="/home/zorro/repos/autonima-results/reports/nature_methods_figures/figure5_gain_from_analysis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4320" y="1371600"/>
            <a:ext cx="730246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1536192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studies fixed. Draw 500 random subsets the same size as the annotated one. Does annotation beat chance?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66928" y="26974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2788920"/>
            <a:ext cx="3026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+0.211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3246120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ΔR² over a size-matched random selection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93192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of 32 contrasts clear their own null at P &lt; 0.05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sit outside all 500 draws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that fail all select 31–77% of their pool — little left to select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bar = 5–95% of the null; dot = observed. Matching the subset size is what separates selecting well from merely selecting fewer.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you skip the studyset and just ask a model?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text→map models, same queries, same scoring: NeuroQuery and NeuroVLM.</a:t>
            </a:r>
            <a:endParaRPr lang="en-US" sz="1500" dirty="0"/>
          </a:p>
        </p:txBody>
      </p:sp>
      <p:pic>
        <p:nvPicPr>
          <p:cNvPr id="4" name="Image 0" descr="/home/zorro/repos/autonima-results/reports/nature_methods_figures/figureS4_text_to_map_base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511" y="1691640"/>
            <a:ext cx="8034673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29200"/>
            <a:ext cx="2572436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5120640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0.075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5577840"/>
            <a:ext cx="23529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NeuroQuery, mean R²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5396" y="5029200"/>
            <a:ext cx="2572436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05124" y="5120640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0.238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505124" y="5577840"/>
            <a:ext cx="23529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NeuroVLM, mean R²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23864" y="5029200"/>
            <a:ext cx="2572436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33592" y="5120640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0.476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333592" y="5577840"/>
            <a:ext cx="23529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search baseline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52331" y="5029200"/>
            <a:ext cx="2572436" cy="868680"/>
          </a:xfrm>
          <a:prstGeom prst="roundRect">
            <a:avLst>
              <a:gd name="adj" fmla="val 842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62059" y="5120640"/>
            <a:ext cx="23529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162059" y="5577840"/>
            <a:ext cx="23529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peak on canonical terms (executive function, working memory) and collapse on condition contrasts (all three emotion-regulation columns ≈ 0.002–0.08). A term is not an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risk is mis-prompting, not overfitting</a:t>
            </a:r>
            <a:endParaRPr lang="en-US" sz="3100" dirty="0"/>
          </a:p>
        </p:txBody>
      </p:sp>
      <p:pic>
        <p:nvPicPr>
          <p:cNvPr id="3" name="Image 0" descr="/home/zorro/repos/autonima-results/reports/nature_methods_figures/figureS2_tier_pro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56031"/>
            <a:ext cx="4297680" cy="36031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1600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are registered by how much of the benchmark shaped their criteria.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12080" y="2148840"/>
            <a:ext cx="3076956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21808" y="2240280"/>
            <a:ext cx="2857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+0.221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321808" y="2697480"/>
            <a:ext cx="28575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→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major oversights in mis-specified criteria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45068" y="2148840"/>
            <a:ext cx="3076956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54796" y="2240280"/>
            <a:ext cx="28575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+0.031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654796" y="2697480"/>
            <a:ext cx="28575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→ best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criteria against the error reports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3794760"/>
            <a:ext cx="6409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 whole rise is the cost of getting criteria wrong — not the benefit of having seen the answers.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happened to us: dementia's verbatim criteria scored 0.112 against 0.358 once fixed, and nothing in the output announced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 = 2 — an indication, not an estimate.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the three projects with all three tiers: 0.378 → 0.525 → 0.530. Steep, then flat.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does a re-run move?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frozen and verified identical; every LLM stage recomputed. Three projects.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874520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9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±0.12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329580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per-contrast reproducibility floor, dice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8218" y="17830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946" y="1874520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±0.04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447946" y="2331720"/>
            <a:ext cx="329580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floor, dice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9509" y="17830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9237" y="1874520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0.89–0.96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19237" y="2331720"/>
            <a:ext cx="329580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agreement between identical runs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15468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61104" y="31546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over baseline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31546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drift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24544" y="31546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611880"/>
            <a:ext cx="110578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361188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regulation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3611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+0.284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095744" y="36118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924544" y="3611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≫ drift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11057839" cy="457200"/>
          </a:xfrm>
          <a:prstGeom prst="rect">
            <a:avLst/>
          </a:prstGeom>
          <a:solidFill>
            <a:srgbClr val="EEF3F7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406908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261104" y="40690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+0.115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095744" y="40690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24544" y="40690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≫ drift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4526280"/>
            <a:ext cx="1105783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" y="452628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function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261104" y="45262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+0.058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095744" y="452628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924544" y="45262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≈ drift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28523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32 reported margins sit inside the noise band on a single run — decision making (+0.001), dementia (+0.005) and executive function (+0.031). That has to be said in the paper.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is stable across re-runs while dice is not — one re-run pushed a whole map below threshold. Three independent lines of evidence now favour r² as the primary metric.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not the obstacle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60704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from per-stage token accounting, not estimated.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1790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~$51</a:t>
            </a:r>
            <a:pPr indent="0" marL="0"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three full projects end to end;  </a:t>
            </a:r>
            <a:pPr indent="0" marL="0">
              <a:buNone/>
            </a:pPr>
            <a:r>
              <a:rPr lang="en-US" sz="1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$0.0023</a:t>
            </a:r>
            <a:pPr indent="0" marL="0"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abstract screened, 88% of it output tokens.  The pre-hoc estimate was </a:t>
            </a:r>
            <a:pPr indent="0" marL="0">
              <a:buNone/>
            </a:pPr>
            <a:r>
              <a:rPr lang="en-US" sz="1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1.8× under</a:t>
            </a:r>
            <a:pPr indent="0" marL="0">
              <a:buNone/>
            </a:pPr>
            <a:r>
              <a:rPr lang="en-US" sz="14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is why the accounting exists.</a:t>
            </a:r>
            <a:endParaRPr lang="en-US" sz="1400" dirty="0"/>
          </a:p>
        </p:txBody>
      </p:sp>
      <p:pic>
        <p:nvPicPr>
          <p:cNvPr id="5" name="Image 0" descr="/home/zorro/repos/autonima-results/reports/nature_methods_figures/figureS1_measured_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49080"/>
            <a:ext cx="11057839" cy="3674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dollars and hours against months of person time — which for a methods audience is the point, not an aside.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 reviewer will ask about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700784"/>
            <a:ext cx="5330952" cy="1627632"/>
          </a:xfrm>
          <a:prstGeom prst="roundRect">
            <a:avLst>
              <a:gd name="adj" fmla="val 449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is 32, not 35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212848"/>
            <a:ext cx="49286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substance-use contrasts dropped: the source paper reports no significant result for cannabis, opioids or stimulants, so there is nothing to recover. This lowered our headline from +0.110 — which is the best evidence it wasn't chosen to flatter.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91072" y="1700784"/>
            <a:ext cx="5330952" cy="1627632"/>
          </a:xfrm>
          <a:prstGeom prst="roundRect">
            <a:avLst>
              <a:gd name="adj" fmla="val 449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rule, enforced in code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12848"/>
            <a:ext cx="49286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compares unthresholded maps; dice compares FDR-corrected thresholded maps. Both comparison scripts previously had one half wrong. Fixing it moved 26 of 35 contrasts.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547872"/>
            <a:ext cx="5330952" cy="1627632"/>
          </a:xfrm>
          <a:prstGeom prst="roundRect">
            <a:avLst>
              <a:gd name="adj" fmla="val 449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6941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MKDA everywhere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4059936"/>
            <a:ext cx="49286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the nine source papers used ALE. We re-analyse all nine with MKDA for internal comparability, and report the one case where that substitution erases a published result (nicotine).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3547872"/>
            <a:ext cx="5330952" cy="1627632"/>
          </a:xfrm>
          <a:prstGeom prst="roundRect">
            <a:avLst>
              <a:gd name="adj" fmla="val 449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6941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has no human ceiling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059936"/>
            <a:ext cx="49286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screening against one team's inclusion list as though it were truth. Human–human agreement on abstract screening runs κ ≈ 0.6–0.8, so our precision is a lower bound on agreement, not an accuracy estimate.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scope decision recorded with its reasoning in the paper outline — not an omission.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still open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664208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6642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submission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609344"/>
            <a:ext cx="8485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case where the answer is not already published — the difference between demonstrating reproduction and demonstrating discovery.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78608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25786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computing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523744"/>
            <a:ext cx="8485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over baseline by tier, not just absolute R². The baselines don't move with tier so it should track, but that is load-bearing enough to measure.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493008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4930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DOI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438144"/>
            <a:ext cx="8485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neurometabench must be citable before submission. "In a paper we haven't submitted" is not an answer to "where is this benchmark".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407408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4074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doing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4352544"/>
            <a:ext cx="8485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Failure-mode taxonomy in the main text — separating supply failures from judgement failures. A methods audience adopts on the basis of how a tool fails.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321808"/>
            <a:ext cx="2148840" cy="512064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53218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quality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5266944"/>
            <a:ext cx="8485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substance-use contrasts disagree with the source paper's own foci counts (153 vs 37, 109 vs 236). That is an extraction audit for the data paper.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2362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tracked in NATURE_METHODS_SKELETON.md and PAPER_OUTLINE.md, with the reasoning attached.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7190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1645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below the paper is measurable, and it matters.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99339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+0.211 median R² over a size-matched random draw of the same analyses; 29 of 32 contrasts beat their own null.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72491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beats the strongest baseline we could build.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07238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+0.099 mean ΔR², ahead in 28 of 32, and usually while pooling fewer analyses.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380390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model for the map is not a substitute.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415137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text→map models collapse on condition contrasts. A term is not an analysis.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9560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88289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failure is mis-specified criteria.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523036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roughly seven times the tuning effect — and nothing in the output announces it.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Nature Methods, with neurometabench as a companion data paper.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autonima validation results</dc:title>
  <dc:subject>PptxGenJS Presentation</dc:subject>
  <dc:creator>Alejandro de la Vega</dc:creator>
  <cp:lastModifiedBy>Alejandro de la Vega</cp:lastModifiedBy>
  <cp:revision>1</cp:revision>
  <dcterms:created xsi:type="dcterms:W3CDTF">2026-09-09T21:10:47Z</dcterms:created>
  <dcterms:modified xsi:type="dcterms:W3CDTF">2026-09-09T21:10:47Z</dcterms:modified>
</cp:coreProperties>
</file>